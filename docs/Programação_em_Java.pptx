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Fraunces" panose="020B0604020202020204" charset="0"/>
      <p:regular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Italics" panose="020B0604020202020204" charset="0"/>
      <p:regular r:id="rId15"/>
    </p:embeddedFont>
    <p:embeddedFont>
      <p:font typeface="JetBrains Mono" panose="020B0604020202020204" charset="0"/>
      <p:regular r:id="rId16"/>
    </p:embeddedFont>
    <p:embeddedFont>
      <p:font typeface="JetBrains Mono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33350" cy="10287000"/>
            <a:chOff x="0" y="0"/>
            <a:chExt cx="13335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50" cy="10287000"/>
            </a:xfrm>
            <a:custGeom>
              <a:avLst/>
              <a:gdLst/>
              <a:ahLst/>
              <a:cxnLst/>
              <a:rect l="l" t="t" r="r" b="b"/>
              <a:pathLst>
                <a:path w="133350" h="10287000">
                  <a:moveTo>
                    <a:pt x="0" y="0"/>
                  </a:moveTo>
                  <a:lnTo>
                    <a:pt x="133350" y="0"/>
                  </a:lnTo>
                  <a:lnTo>
                    <a:pt x="1333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3000" y="9505950"/>
            <a:ext cx="8001000" cy="9525"/>
            <a:chOff x="0" y="0"/>
            <a:chExt cx="8001000" cy="9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  <a:lnTo>
                    <a:pt x="8001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955152" y="1216843"/>
            <a:ext cx="571500" cy="19050"/>
            <a:chOff x="0" y="0"/>
            <a:chExt cx="571500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2997" y="-63503"/>
            <a:ext cx="8318497" cy="10413997"/>
            <a:chOff x="0" y="0"/>
            <a:chExt cx="8318500" cy="10414000"/>
          </a:xfrm>
        </p:grpSpPr>
        <p:sp>
          <p:nvSpPr>
            <p:cNvPr id="9" name="Freeform 9"/>
            <p:cNvSpPr/>
            <p:nvPr/>
          </p:nvSpPr>
          <p:spPr>
            <a:xfrm>
              <a:off x="4273550" y="63500"/>
              <a:ext cx="3981450" cy="10287000"/>
            </a:xfrm>
            <a:custGeom>
              <a:avLst/>
              <a:gdLst/>
              <a:ahLst/>
              <a:cxnLst/>
              <a:rect l="l" t="t" r="r" b="b"/>
              <a:pathLst>
                <a:path w="3981450" h="10287000">
                  <a:moveTo>
                    <a:pt x="0" y="0"/>
                  </a:moveTo>
                  <a:lnTo>
                    <a:pt x="3981450" y="0"/>
                  </a:lnTo>
                  <a:lnTo>
                    <a:pt x="39814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E8E2D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54000" y="2730500"/>
              <a:ext cx="7048500" cy="5715000"/>
            </a:xfrm>
            <a:custGeom>
              <a:avLst/>
              <a:gdLst/>
              <a:ahLst/>
              <a:cxnLst/>
              <a:rect l="l" t="t" r="r" b="b"/>
              <a:pathLst>
                <a:path w="7048500" h="5715000">
                  <a:moveTo>
                    <a:pt x="0" y="0"/>
                  </a:moveTo>
                  <a:lnTo>
                    <a:pt x="7048500" y="0"/>
                  </a:lnTo>
                  <a:lnTo>
                    <a:pt x="704850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0B142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4000" y="8636000"/>
              <a:ext cx="7048500" cy="762000"/>
            </a:xfrm>
            <a:custGeom>
              <a:avLst/>
              <a:gdLst/>
              <a:ahLst/>
              <a:cxnLst/>
              <a:rect l="l" t="t" r="r" b="b"/>
              <a:pathLst>
                <a:path w="7048500" h="762000">
                  <a:moveTo>
                    <a:pt x="0" y="0"/>
                  </a:moveTo>
                  <a:lnTo>
                    <a:pt x="7048500" y="0"/>
                  </a:lnTo>
                  <a:lnTo>
                    <a:pt x="70485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54000" y="8636000"/>
              <a:ext cx="7048500" cy="762127"/>
            </a:xfrm>
            <a:custGeom>
              <a:avLst/>
              <a:gdLst/>
              <a:ahLst/>
              <a:cxnLst/>
              <a:rect l="l" t="t" r="r" b="b"/>
              <a:pathLst>
                <a:path w="7048500" h="762127">
                  <a:moveTo>
                    <a:pt x="4826" y="0"/>
                  </a:moveTo>
                  <a:lnTo>
                    <a:pt x="7043674" y="0"/>
                  </a:lnTo>
                  <a:lnTo>
                    <a:pt x="7048500" y="0"/>
                  </a:lnTo>
                  <a:lnTo>
                    <a:pt x="7048500" y="4826"/>
                  </a:lnTo>
                  <a:lnTo>
                    <a:pt x="7048500" y="757301"/>
                  </a:lnTo>
                  <a:lnTo>
                    <a:pt x="7048500" y="762127"/>
                  </a:lnTo>
                  <a:lnTo>
                    <a:pt x="7043674" y="762127"/>
                  </a:lnTo>
                  <a:lnTo>
                    <a:pt x="4826" y="762127"/>
                  </a:lnTo>
                  <a:lnTo>
                    <a:pt x="0" y="762127"/>
                  </a:lnTo>
                  <a:lnTo>
                    <a:pt x="0" y="757301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757174"/>
                  </a:lnTo>
                  <a:lnTo>
                    <a:pt x="4826" y="757174"/>
                  </a:lnTo>
                  <a:lnTo>
                    <a:pt x="4826" y="752348"/>
                  </a:lnTo>
                  <a:lnTo>
                    <a:pt x="7043674" y="752348"/>
                  </a:lnTo>
                  <a:lnTo>
                    <a:pt x="7043674" y="757174"/>
                  </a:lnTo>
                  <a:lnTo>
                    <a:pt x="7038848" y="757174"/>
                  </a:lnTo>
                  <a:lnTo>
                    <a:pt x="7038848" y="4826"/>
                  </a:lnTo>
                  <a:lnTo>
                    <a:pt x="7043674" y="4826"/>
                  </a:lnTo>
                  <a:lnTo>
                    <a:pt x="7043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54000" y="2730500"/>
              <a:ext cx="57150" cy="5715000"/>
            </a:xfrm>
            <a:custGeom>
              <a:avLst/>
              <a:gdLst/>
              <a:ahLst/>
              <a:cxnLst/>
              <a:rect l="l" t="t" r="r" b="b"/>
              <a:pathLst>
                <a:path w="57150" h="5715000">
                  <a:moveTo>
                    <a:pt x="0" y="0"/>
                  </a:moveTo>
                  <a:lnTo>
                    <a:pt x="57150" y="0"/>
                  </a:lnTo>
                  <a:lnTo>
                    <a:pt x="5715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96900" y="8778875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0" y="0"/>
                  </a:moveTo>
                  <a:lnTo>
                    <a:pt x="1905000" y="0"/>
                  </a:lnTo>
                  <a:lnTo>
                    <a:pt x="19050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501900" y="9007475"/>
              <a:ext cx="1143000" cy="19050"/>
            </a:xfrm>
            <a:custGeom>
              <a:avLst/>
              <a:gdLst/>
              <a:ahLst/>
              <a:cxnLst/>
              <a:rect l="l" t="t" r="r" b="b"/>
              <a:pathLst>
                <a:path w="1143000" h="19050">
                  <a:moveTo>
                    <a:pt x="0" y="0"/>
                  </a:moveTo>
                  <a:lnTo>
                    <a:pt x="1143000" y="0"/>
                  </a:lnTo>
                  <a:lnTo>
                    <a:pt x="1143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537077" y="8899652"/>
              <a:ext cx="215646" cy="215646"/>
            </a:xfrm>
            <a:custGeom>
              <a:avLst/>
              <a:gdLst/>
              <a:ahLst/>
              <a:cxnLst/>
              <a:rect l="l" t="t" r="r" b="b"/>
              <a:pathLst>
                <a:path w="215646" h="215646">
                  <a:moveTo>
                    <a:pt x="107823" y="0"/>
                  </a:moveTo>
                  <a:lnTo>
                    <a:pt x="215646" y="107823"/>
                  </a:lnTo>
                  <a:lnTo>
                    <a:pt x="107823" y="215646"/>
                  </a:lnTo>
                  <a:lnTo>
                    <a:pt x="0" y="107823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759200" y="87788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0" y="0"/>
                  </a:moveTo>
                  <a:lnTo>
                    <a:pt x="1524000" y="0"/>
                  </a:lnTo>
                  <a:lnTo>
                    <a:pt x="15240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2EEE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759200" y="8778875"/>
              <a:ext cx="1524000" cy="476377"/>
            </a:xfrm>
            <a:custGeom>
              <a:avLst/>
              <a:gdLst/>
              <a:ahLst/>
              <a:cxnLst/>
              <a:rect l="l" t="t" r="r" b="b"/>
              <a:pathLst>
                <a:path w="1524000" h="476377">
                  <a:moveTo>
                    <a:pt x="4826" y="0"/>
                  </a:moveTo>
                  <a:lnTo>
                    <a:pt x="1519174" y="0"/>
                  </a:lnTo>
                  <a:lnTo>
                    <a:pt x="1524000" y="0"/>
                  </a:lnTo>
                  <a:lnTo>
                    <a:pt x="1524000" y="4826"/>
                  </a:lnTo>
                  <a:lnTo>
                    <a:pt x="1524000" y="471551"/>
                  </a:lnTo>
                  <a:lnTo>
                    <a:pt x="1524000" y="476377"/>
                  </a:lnTo>
                  <a:lnTo>
                    <a:pt x="1519174" y="476377"/>
                  </a:lnTo>
                  <a:lnTo>
                    <a:pt x="4826" y="476377"/>
                  </a:lnTo>
                  <a:lnTo>
                    <a:pt x="0" y="476377"/>
                  </a:lnTo>
                  <a:lnTo>
                    <a:pt x="0" y="471551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471424"/>
                  </a:lnTo>
                  <a:lnTo>
                    <a:pt x="4826" y="471424"/>
                  </a:lnTo>
                  <a:lnTo>
                    <a:pt x="4826" y="466725"/>
                  </a:lnTo>
                  <a:lnTo>
                    <a:pt x="1519174" y="466725"/>
                  </a:lnTo>
                  <a:lnTo>
                    <a:pt x="1519174" y="471551"/>
                  </a:lnTo>
                  <a:lnTo>
                    <a:pt x="1514348" y="471551"/>
                  </a:lnTo>
                  <a:lnTo>
                    <a:pt x="1514348" y="4699"/>
                  </a:lnTo>
                  <a:lnTo>
                    <a:pt x="1519174" y="4699"/>
                  </a:lnTo>
                  <a:lnTo>
                    <a:pt x="1519174" y="9525"/>
                  </a:lnTo>
                  <a:lnTo>
                    <a:pt x="4826" y="9525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492750" y="87788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0" y="0"/>
                  </a:moveTo>
                  <a:lnTo>
                    <a:pt x="1524000" y="0"/>
                  </a:lnTo>
                  <a:lnTo>
                    <a:pt x="15240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2EEE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5492750" y="8778875"/>
              <a:ext cx="1524000" cy="476377"/>
            </a:xfrm>
            <a:custGeom>
              <a:avLst/>
              <a:gdLst/>
              <a:ahLst/>
              <a:cxnLst/>
              <a:rect l="l" t="t" r="r" b="b"/>
              <a:pathLst>
                <a:path w="1524000" h="476377">
                  <a:moveTo>
                    <a:pt x="4826" y="0"/>
                  </a:moveTo>
                  <a:lnTo>
                    <a:pt x="1519174" y="0"/>
                  </a:lnTo>
                  <a:lnTo>
                    <a:pt x="1524000" y="0"/>
                  </a:lnTo>
                  <a:lnTo>
                    <a:pt x="1524000" y="4826"/>
                  </a:lnTo>
                  <a:lnTo>
                    <a:pt x="1524000" y="471551"/>
                  </a:lnTo>
                  <a:lnTo>
                    <a:pt x="1524000" y="476377"/>
                  </a:lnTo>
                  <a:lnTo>
                    <a:pt x="1519174" y="476377"/>
                  </a:lnTo>
                  <a:lnTo>
                    <a:pt x="4826" y="476377"/>
                  </a:lnTo>
                  <a:lnTo>
                    <a:pt x="0" y="476377"/>
                  </a:lnTo>
                  <a:lnTo>
                    <a:pt x="0" y="471551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471424"/>
                  </a:lnTo>
                  <a:lnTo>
                    <a:pt x="4826" y="471424"/>
                  </a:lnTo>
                  <a:lnTo>
                    <a:pt x="4826" y="466725"/>
                  </a:lnTo>
                  <a:lnTo>
                    <a:pt x="1519174" y="466725"/>
                  </a:lnTo>
                  <a:lnTo>
                    <a:pt x="1519174" y="471551"/>
                  </a:lnTo>
                  <a:lnTo>
                    <a:pt x="1514348" y="471551"/>
                  </a:lnTo>
                  <a:lnTo>
                    <a:pt x="1514348" y="4699"/>
                  </a:lnTo>
                  <a:lnTo>
                    <a:pt x="1519174" y="4699"/>
                  </a:lnTo>
                  <a:lnTo>
                    <a:pt x="1519174" y="9525"/>
                  </a:lnTo>
                  <a:lnTo>
                    <a:pt x="4826" y="9525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3500" y="25781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858" y="96139"/>
                    <a:pt x="5080" y="92075"/>
                  </a:cubicBezTo>
                  <a:cubicBezTo>
                    <a:pt x="3302" y="88011"/>
                    <a:pt x="2159" y="83820"/>
                    <a:pt x="1270" y="79629"/>
                  </a:cubicBezTo>
                  <a:cubicBezTo>
                    <a:pt x="381" y="75438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27643" y="-745712"/>
            <a:ext cx="6971123" cy="3086100"/>
            <a:chOff x="0" y="0"/>
            <a:chExt cx="1836016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36016" cy="812800"/>
            </a:xfrm>
            <a:custGeom>
              <a:avLst/>
              <a:gdLst/>
              <a:ahLst/>
              <a:cxnLst/>
              <a:rect l="l" t="t" r="r" b="b"/>
              <a:pathLst>
                <a:path w="1836016" h="812800">
                  <a:moveTo>
                    <a:pt x="0" y="0"/>
                  </a:moveTo>
                  <a:lnTo>
                    <a:pt x="1836016" y="0"/>
                  </a:lnTo>
                  <a:lnTo>
                    <a:pt x="183601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B142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836016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298766" y="-745712"/>
            <a:ext cx="47625" cy="3086100"/>
            <a:chOff x="0" y="0"/>
            <a:chExt cx="12543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543" cy="812800"/>
            </a:xfrm>
            <a:custGeom>
              <a:avLst/>
              <a:gdLst/>
              <a:ahLst/>
              <a:cxnLst/>
              <a:rect l="l" t="t" r="r" b="b"/>
              <a:pathLst>
                <a:path w="12543" h="812800">
                  <a:moveTo>
                    <a:pt x="0" y="0"/>
                  </a:moveTo>
                  <a:lnTo>
                    <a:pt x="12543" y="0"/>
                  </a:lnTo>
                  <a:lnTo>
                    <a:pt x="125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254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92537" y="2234622"/>
            <a:ext cx="143103" cy="143103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551790" y="567255"/>
            <a:ext cx="1984262" cy="899532"/>
          </a:xfrm>
          <a:custGeom>
            <a:avLst/>
            <a:gdLst/>
            <a:ahLst/>
            <a:cxnLst/>
            <a:rect l="l" t="t" r="r" b="b"/>
            <a:pathLst>
              <a:path w="1984262" h="899532">
                <a:moveTo>
                  <a:pt x="0" y="0"/>
                </a:moveTo>
                <a:lnTo>
                  <a:pt x="1984262" y="0"/>
                </a:lnTo>
                <a:lnTo>
                  <a:pt x="1984262" y="899532"/>
                </a:lnTo>
                <a:lnTo>
                  <a:pt x="0" y="899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2" name="TextBox 32"/>
          <p:cNvSpPr txBox="1"/>
          <p:nvPr/>
        </p:nvSpPr>
        <p:spPr>
          <a:xfrm>
            <a:off x="608896" y="2596573"/>
            <a:ext cx="9596782" cy="465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6"/>
              </a:lnSpc>
            </a:pPr>
            <a:r>
              <a:rPr lang="en-US" sz="11400" b="1">
                <a:solidFill>
                  <a:srgbClr val="0E1A2E"/>
                </a:solidFill>
                <a:latin typeface="Inter Bold"/>
                <a:ea typeface="Inter Bold"/>
                <a:cs typeface="Inter Bold"/>
                <a:sym typeface="Inter Bold"/>
              </a:rPr>
              <a:t>Programação </a:t>
            </a:r>
            <a:r>
              <a:rPr lang="en-US" sz="114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em Java</a:t>
            </a:r>
            <a:r>
              <a:rPr lang="en-US" sz="114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2850"/>
              </a:lnSpc>
            </a:pPr>
            <a:r>
              <a:rPr lang="en-US" sz="1950" spc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Como classes, herança e polimorfismo organizam uma solução de seguros.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44052" y="6894928"/>
            <a:ext cx="2859472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abstract double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53802" y="7189618"/>
            <a:ext cx="2209645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calcularSeguro();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34303" y="3933396"/>
            <a:ext cx="2729506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abstract class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438025" y="3897716"/>
            <a:ext cx="1169912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Veiculo {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44052" y="4235191"/>
            <a:ext cx="1689690" cy="64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2"/>
              </a:lnSpc>
            </a:pPr>
            <a:r>
              <a:rPr lang="en-US" sz="1672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final private final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928275" y="4199511"/>
            <a:ext cx="1819820" cy="64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2"/>
              </a:lnSpc>
            </a:pPr>
            <a:r>
              <a:rPr lang="en-US" sz="1672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modelo;</a:t>
            </a:r>
          </a:p>
          <a:p>
            <a:pPr algn="l">
              <a:lnSpc>
                <a:spcPts val="2602"/>
              </a:lnSpc>
            </a:pPr>
            <a:r>
              <a:rPr lang="en-US" sz="1672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 valor;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44052" y="5254876"/>
            <a:ext cx="1169782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protected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418526" y="5219196"/>
            <a:ext cx="2859896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Veiculo(String modelo,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437836" y="5537767"/>
            <a:ext cx="1949797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 valor) {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955152" y="792932"/>
            <a:ext cx="3681767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GRUPO 3 · SEMINÁRIO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8896" y="2339625"/>
            <a:ext cx="6080952" cy="266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5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PARADIGNAS DE LINGUAGEM DE PROGRAMAÇÃO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634303" y="3338977"/>
            <a:ext cx="2377485" cy="25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486" spc="356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VEICULO.JAVA ·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27785" y="5857586"/>
            <a:ext cx="467910" cy="3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723" i="1">
                <a:solidFill>
                  <a:srgbClr val="6B728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/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44017" y="6198508"/>
            <a:ext cx="129977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634303" y="7519988"/>
            <a:ext cx="129977" cy="28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672" spc="1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000" y="9636689"/>
            <a:ext cx="75781" cy="16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60932" y="9627164"/>
            <a:ext cx="1804969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ABERTURA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912404" y="3338977"/>
            <a:ext cx="951043" cy="25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486" spc="356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902759" y="3338977"/>
            <a:ext cx="633947" cy="25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486" spc="356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766894" y="5857586"/>
            <a:ext cx="1625787" cy="293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723" i="1">
                <a:solidFill>
                  <a:srgbClr val="6B728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/</a:t>
            </a:r>
            <a:r>
              <a:rPr lang="en-US" sz="1723" i="1">
                <a:solidFill>
                  <a:srgbClr val="00000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 </a:t>
            </a:r>
            <a:r>
              <a:rPr lang="en-US" sz="1723" i="1">
                <a:solidFill>
                  <a:srgbClr val="6B728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validações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162262" y="8793547"/>
            <a:ext cx="856907" cy="27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Veiculo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268002" y="8808606"/>
            <a:ext cx="583663" cy="26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Carro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024174" y="8808606"/>
            <a:ext cx="537486" cy="26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B7431A"/>
                </a:solidFill>
                <a:latin typeface="Inter"/>
                <a:ea typeface="Inter"/>
                <a:cs typeface="Inter"/>
                <a:sym typeface="Inter"/>
              </a:rPr>
              <a:t>Moto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454715" y="112005"/>
            <a:ext cx="1653646" cy="255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0"/>
              </a:lnSpc>
              <a:spcBef>
                <a:spcPct val="0"/>
              </a:spcBef>
            </a:pPr>
            <a:r>
              <a:rPr lang="en-US" sz="15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Participantes: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634303" y="443743"/>
            <a:ext cx="3745508" cy="182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C7C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Árthur Silva Medeiros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C7C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Breno Silva Marinho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C7C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César Chaves Fonsêca Watanabe Maluf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C7C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Enzo de Souza Rocha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C7C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Gabriel Azevedo Junior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C7C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João Victor Lima de FreitasCarvalho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C7C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João Vitor Oliveira de Deus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C7C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Ryan Áquila Damasceno Vieira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1257300"/>
            <a:ext cx="571500" cy="19050"/>
            <a:chOff x="0" y="0"/>
            <a:chExt cx="5715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3000" y="5810250"/>
            <a:ext cx="323850" cy="323850"/>
            <a:chOff x="0" y="0"/>
            <a:chExt cx="323850" cy="323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6667500"/>
            <a:ext cx="323850" cy="323850"/>
            <a:chOff x="0" y="0"/>
            <a:chExt cx="323850" cy="323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" y="7524750"/>
            <a:ext cx="323850" cy="323850"/>
            <a:chOff x="0" y="0"/>
            <a:chExt cx="323850" cy="323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9497" y="-63503"/>
            <a:ext cx="17271997" cy="10413997"/>
            <a:chOff x="0" y="0"/>
            <a:chExt cx="17272000" cy="10414000"/>
          </a:xfrm>
        </p:grpSpPr>
        <p:sp>
          <p:nvSpPr>
            <p:cNvPr id="11" name="Freeform 11"/>
            <p:cNvSpPr/>
            <p:nvPr/>
          </p:nvSpPr>
          <p:spPr>
            <a:xfrm>
              <a:off x="9398000" y="63500"/>
              <a:ext cx="7810500" cy="10287000"/>
            </a:xfrm>
            <a:custGeom>
              <a:avLst/>
              <a:gdLst/>
              <a:ahLst/>
              <a:cxnLst/>
              <a:rect l="l" t="t" r="r" b="b"/>
              <a:pathLst>
                <a:path w="7810500" h="10287000">
                  <a:moveTo>
                    <a:pt x="0" y="0"/>
                  </a:moveTo>
                  <a:lnTo>
                    <a:pt x="7810500" y="0"/>
                  </a:lnTo>
                  <a:lnTo>
                    <a:pt x="78105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500" y="9569450"/>
              <a:ext cx="16002000" cy="9525"/>
            </a:xfrm>
            <a:custGeom>
              <a:avLst/>
              <a:gdLst/>
              <a:ahLst/>
              <a:cxnLst/>
              <a:rect l="l" t="t" r="r" b="b"/>
              <a:pathLst>
                <a:path w="16002000" h="9525">
                  <a:moveTo>
                    <a:pt x="0" y="0"/>
                  </a:moveTo>
                  <a:lnTo>
                    <a:pt x="16002000" y="0"/>
                  </a:lnTo>
                  <a:lnTo>
                    <a:pt x="16002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0160000" y="1587500"/>
              <a:ext cx="6477000" cy="2095500"/>
            </a:xfrm>
            <a:custGeom>
              <a:avLst/>
              <a:gdLst/>
              <a:ahLst/>
              <a:cxnLst/>
              <a:rect l="l" t="t" r="r" b="b"/>
              <a:pathLst>
                <a:path w="6477000" h="2095500">
                  <a:moveTo>
                    <a:pt x="0" y="0"/>
                  </a:moveTo>
                  <a:lnTo>
                    <a:pt x="6477000" y="0"/>
                  </a:lnTo>
                  <a:lnTo>
                    <a:pt x="6477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F2EEE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160000" y="1587500"/>
              <a:ext cx="6477127" cy="2095500"/>
            </a:xfrm>
            <a:custGeom>
              <a:avLst/>
              <a:gdLst/>
              <a:ahLst/>
              <a:cxnLst/>
              <a:rect l="l" t="t" r="r" b="b"/>
              <a:pathLst>
                <a:path w="6477127" h="2095500">
                  <a:moveTo>
                    <a:pt x="4826" y="0"/>
                  </a:moveTo>
                  <a:lnTo>
                    <a:pt x="6472301" y="0"/>
                  </a:lnTo>
                  <a:lnTo>
                    <a:pt x="6477127" y="0"/>
                  </a:lnTo>
                  <a:lnTo>
                    <a:pt x="6477127" y="4826"/>
                  </a:lnTo>
                  <a:lnTo>
                    <a:pt x="6477127" y="2090674"/>
                  </a:lnTo>
                  <a:lnTo>
                    <a:pt x="6477127" y="2095500"/>
                  </a:lnTo>
                  <a:lnTo>
                    <a:pt x="6472301" y="2095500"/>
                  </a:lnTo>
                  <a:lnTo>
                    <a:pt x="4826" y="2095500"/>
                  </a:lnTo>
                  <a:lnTo>
                    <a:pt x="0" y="2095500"/>
                  </a:lnTo>
                  <a:lnTo>
                    <a:pt x="0" y="2090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2090674"/>
                  </a:lnTo>
                  <a:lnTo>
                    <a:pt x="4826" y="2090674"/>
                  </a:lnTo>
                  <a:lnTo>
                    <a:pt x="4826" y="2085848"/>
                  </a:lnTo>
                  <a:lnTo>
                    <a:pt x="6472301" y="2085848"/>
                  </a:lnTo>
                  <a:lnTo>
                    <a:pt x="6472301" y="2090674"/>
                  </a:lnTo>
                  <a:lnTo>
                    <a:pt x="6467475" y="2090674"/>
                  </a:lnTo>
                  <a:lnTo>
                    <a:pt x="6467475" y="4826"/>
                  </a:lnTo>
                  <a:lnTo>
                    <a:pt x="6472301" y="4826"/>
                  </a:lnTo>
                  <a:lnTo>
                    <a:pt x="6472301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0160000" y="3873500"/>
              <a:ext cx="6477000" cy="2095500"/>
            </a:xfrm>
            <a:custGeom>
              <a:avLst/>
              <a:gdLst/>
              <a:ahLst/>
              <a:cxnLst/>
              <a:rect l="l" t="t" r="r" b="b"/>
              <a:pathLst>
                <a:path w="6477000" h="2095500">
                  <a:moveTo>
                    <a:pt x="0" y="0"/>
                  </a:moveTo>
                  <a:lnTo>
                    <a:pt x="6477000" y="0"/>
                  </a:lnTo>
                  <a:lnTo>
                    <a:pt x="6477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F2EEE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160000" y="3873500"/>
              <a:ext cx="6477127" cy="2095500"/>
            </a:xfrm>
            <a:custGeom>
              <a:avLst/>
              <a:gdLst/>
              <a:ahLst/>
              <a:cxnLst/>
              <a:rect l="l" t="t" r="r" b="b"/>
              <a:pathLst>
                <a:path w="6477127" h="2095500">
                  <a:moveTo>
                    <a:pt x="4826" y="0"/>
                  </a:moveTo>
                  <a:lnTo>
                    <a:pt x="6472301" y="0"/>
                  </a:lnTo>
                  <a:lnTo>
                    <a:pt x="6477127" y="0"/>
                  </a:lnTo>
                  <a:lnTo>
                    <a:pt x="6477127" y="4826"/>
                  </a:lnTo>
                  <a:lnTo>
                    <a:pt x="6477127" y="2090674"/>
                  </a:lnTo>
                  <a:lnTo>
                    <a:pt x="6477127" y="2095500"/>
                  </a:lnTo>
                  <a:lnTo>
                    <a:pt x="6472301" y="2095500"/>
                  </a:lnTo>
                  <a:lnTo>
                    <a:pt x="4826" y="2095500"/>
                  </a:lnTo>
                  <a:lnTo>
                    <a:pt x="0" y="2095500"/>
                  </a:lnTo>
                  <a:lnTo>
                    <a:pt x="0" y="2090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2090674"/>
                  </a:lnTo>
                  <a:lnTo>
                    <a:pt x="4826" y="2090674"/>
                  </a:lnTo>
                  <a:lnTo>
                    <a:pt x="4826" y="2085848"/>
                  </a:lnTo>
                  <a:lnTo>
                    <a:pt x="6472301" y="2085848"/>
                  </a:lnTo>
                  <a:lnTo>
                    <a:pt x="6472301" y="2090674"/>
                  </a:lnTo>
                  <a:lnTo>
                    <a:pt x="6467475" y="2090674"/>
                  </a:lnTo>
                  <a:lnTo>
                    <a:pt x="6467475" y="4826"/>
                  </a:lnTo>
                  <a:lnTo>
                    <a:pt x="6472301" y="4826"/>
                  </a:lnTo>
                  <a:lnTo>
                    <a:pt x="6472301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160000" y="6540500"/>
              <a:ext cx="6477000" cy="2667000"/>
            </a:xfrm>
            <a:custGeom>
              <a:avLst/>
              <a:gdLst/>
              <a:ahLst/>
              <a:cxnLst/>
              <a:rect l="l" t="t" r="r" b="b"/>
              <a:pathLst>
                <a:path w="6477000" h="2667000">
                  <a:moveTo>
                    <a:pt x="0" y="0"/>
                  </a:moveTo>
                  <a:lnTo>
                    <a:pt x="6477000" y="0"/>
                  </a:lnTo>
                  <a:lnTo>
                    <a:pt x="6477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160000" y="6540500"/>
              <a:ext cx="57150" cy="2667000"/>
            </a:xfrm>
            <a:custGeom>
              <a:avLst/>
              <a:gdLst/>
              <a:ahLst/>
              <a:cxnLst/>
              <a:rect l="l" t="t" r="r" b="b"/>
              <a:pathLst>
                <a:path w="57150" h="2667000">
                  <a:moveTo>
                    <a:pt x="0" y="0"/>
                  </a:moveTo>
                  <a:lnTo>
                    <a:pt x="57150" y="0"/>
                  </a:lnTo>
                  <a:lnTo>
                    <a:pt x="5715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3000" y="937460"/>
            <a:ext cx="29718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CONTEXTO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000" y="1664741"/>
            <a:ext cx="6631848" cy="147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Problema e regras da simulação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4100293"/>
            <a:ext cx="8767096" cy="69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O programa recebe veículos com modelos e valores diferentes. Cada tipo aplica sua própria taxa e o relatório apresenta os seguros em reais.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9250" y="6689455"/>
            <a:ext cx="4706598" cy="28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A mesma lista armazena carros e motos.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19250" y="7546705"/>
            <a:ext cx="5144948" cy="28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O relatório calcula e soma todos os seguros.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19250" y="5832205"/>
            <a:ext cx="6231360" cy="28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Veículo sem modelo ou com valor inválido é rejeitado.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61191" y="1665485"/>
            <a:ext cx="1782465" cy="22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spc="389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TAXA · CARRO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37363" y="843660"/>
            <a:ext cx="2255181" cy="266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0"/>
              </a:lnSpc>
            </a:pPr>
            <a:r>
              <a:rPr lang="en-US" sz="9600">
                <a:solidFill>
                  <a:srgbClr val="1E40AF"/>
                </a:solidFill>
                <a:latin typeface="Fraunces"/>
                <a:ea typeface="Fraunces"/>
                <a:cs typeface="Fraunces"/>
                <a:sym typeface="Fraunces"/>
              </a:rPr>
              <a:t>5%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29281" y="4291936"/>
            <a:ext cx="2692632" cy="1593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dirty="0">
                <a:solidFill>
                  <a:srgbClr val="B7431A"/>
                </a:solidFill>
                <a:latin typeface="Fraunces"/>
                <a:ea typeface="Fraunces"/>
                <a:cs typeface="Fraunces"/>
                <a:sym typeface="Fraunces"/>
              </a:rPr>
              <a:t>8%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74343" y="6775313"/>
            <a:ext cx="1188475" cy="22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spc="389" dirty="0">
                <a:solidFill>
                  <a:srgbClr val="9DD0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EXEMPLO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20500" y="6775313"/>
            <a:ext cx="1782465" cy="22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spc="389">
                <a:solidFill>
                  <a:srgbClr val="9DD0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RESULTADO DO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20500" y="7217550"/>
            <a:ext cx="5372100" cy="1046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300" dirty="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R$ 20.670,00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9497" y="9686925"/>
            <a:ext cx="91447" cy="20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0665" y="9686925"/>
            <a:ext cx="2148335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35523" y="4040636"/>
            <a:ext cx="1633802" cy="22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spc="38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TAXA · MOTO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33350" cy="10287000"/>
            <a:chOff x="0" y="0"/>
            <a:chExt cx="13335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50" cy="10287000"/>
            </a:xfrm>
            <a:custGeom>
              <a:avLst/>
              <a:gdLst/>
              <a:ahLst/>
              <a:cxnLst/>
              <a:rect l="l" t="t" r="r" b="b"/>
              <a:pathLst>
                <a:path w="133350" h="10287000">
                  <a:moveTo>
                    <a:pt x="0" y="0"/>
                  </a:moveTo>
                  <a:lnTo>
                    <a:pt x="133350" y="0"/>
                  </a:lnTo>
                  <a:lnTo>
                    <a:pt x="1333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3000" y="1066800"/>
            <a:ext cx="571500" cy="19050"/>
            <a:chOff x="0" y="0"/>
            <a:chExt cx="5715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33581" y="8559661"/>
            <a:ext cx="19050" cy="762000"/>
            <a:chOff x="0" y="0"/>
            <a:chExt cx="19050" cy="76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50" cy="762000"/>
            </a:xfrm>
            <a:custGeom>
              <a:avLst/>
              <a:gdLst/>
              <a:ahLst/>
              <a:cxnLst/>
              <a:rect l="l" t="t" r="r" b="b"/>
              <a:pathLst>
                <a:path w="19050" h="762000">
                  <a:moveTo>
                    <a:pt x="0" y="0"/>
                  </a:moveTo>
                  <a:lnTo>
                    <a:pt x="19050" y="0"/>
                  </a:lnTo>
                  <a:lnTo>
                    <a:pt x="1905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" y="9505950"/>
            <a:ext cx="16002000" cy="9525"/>
            <a:chOff x="0" y="0"/>
            <a:chExt cx="16002000" cy="95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002000" cy="9525"/>
            </a:xfrm>
            <a:custGeom>
              <a:avLst/>
              <a:gdLst/>
              <a:ahLst/>
              <a:cxnLst/>
              <a:rect l="l" t="t" r="r" b="b"/>
              <a:pathLst>
                <a:path w="16002000" h="9525">
                  <a:moveTo>
                    <a:pt x="0" y="0"/>
                  </a:moveTo>
                  <a:lnTo>
                    <a:pt x="16002000" y="0"/>
                  </a:lnTo>
                  <a:lnTo>
                    <a:pt x="16002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3234614"/>
            <a:ext cx="15345064" cy="5026829"/>
            <a:chOff x="0" y="0"/>
            <a:chExt cx="12890500" cy="4222750"/>
          </a:xfrm>
        </p:grpSpPr>
        <p:sp>
          <p:nvSpPr>
            <p:cNvPr id="11" name="Freeform 11"/>
            <p:cNvSpPr/>
            <p:nvPr/>
          </p:nvSpPr>
          <p:spPr>
            <a:xfrm>
              <a:off x="63500" y="63500"/>
              <a:ext cx="12763500" cy="4095750"/>
            </a:xfrm>
            <a:custGeom>
              <a:avLst/>
              <a:gdLst/>
              <a:ahLst/>
              <a:cxnLst/>
              <a:rect l="l" t="t" r="r" b="b"/>
              <a:pathLst>
                <a:path w="12763500" h="4095750">
                  <a:moveTo>
                    <a:pt x="0" y="0"/>
                  </a:moveTo>
                  <a:lnTo>
                    <a:pt x="12763500" y="0"/>
                  </a:lnTo>
                  <a:lnTo>
                    <a:pt x="12763500" y="4095750"/>
                  </a:lnTo>
                  <a:lnTo>
                    <a:pt x="0" y="409575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500" y="63500"/>
              <a:ext cx="12763500" cy="4095750"/>
            </a:xfrm>
            <a:custGeom>
              <a:avLst/>
              <a:gdLst/>
              <a:ahLst/>
              <a:cxnLst/>
              <a:rect l="l" t="t" r="r" b="b"/>
              <a:pathLst>
                <a:path w="12763500" h="4095750">
                  <a:moveTo>
                    <a:pt x="4826" y="0"/>
                  </a:moveTo>
                  <a:lnTo>
                    <a:pt x="12758674" y="0"/>
                  </a:lnTo>
                  <a:lnTo>
                    <a:pt x="12763500" y="0"/>
                  </a:lnTo>
                  <a:lnTo>
                    <a:pt x="12763500" y="4826"/>
                  </a:lnTo>
                  <a:lnTo>
                    <a:pt x="12763500" y="4090924"/>
                  </a:lnTo>
                  <a:lnTo>
                    <a:pt x="12763500" y="4095750"/>
                  </a:lnTo>
                  <a:lnTo>
                    <a:pt x="12758674" y="4095750"/>
                  </a:lnTo>
                  <a:lnTo>
                    <a:pt x="4826" y="4095750"/>
                  </a:lnTo>
                  <a:lnTo>
                    <a:pt x="0" y="4095750"/>
                  </a:lnTo>
                  <a:lnTo>
                    <a:pt x="0" y="409092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4090924"/>
                  </a:lnTo>
                  <a:lnTo>
                    <a:pt x="4826" y="4090924"/>
                  </a:lnTo>
                  <a:lnTo>
                    <a:pt x="4826" y="4086098"/>
                  </a:lnTo>
                  <a:lnTo>
                    <a:pt x="12758674" y="4086098"/>
                  </a:lnTo>
                  <a:lnTo>
                    <a:pt x="12758674" y="4090924"/>
                  </a:lnTo>
                  <a:lnTo>
                    <a:pt x="12753848" y="4090924"/>
                  </a:lnTo>
                  <a:lnTo>
                    <a:pt x="12753848" y="4826"/>
                  </a:lnTo>
                  <a:lnTo>
                    <a:pt x="12758674" y="4826"/>
                  </a:lnTo>
                  <a:lnTo>
                    <a:pt x="12758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DCD5C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969000" y="539750"/>
              <a:ext cx="3619500" cy="857250"/>
            </a:xfrm>
            <a:custGeom>
              <a:avLst/>
              <a:gdLst/>
              <a:ahLst/>
              <a:cxnLst/>
              <a:rect l="l" t="t" r="r" b="b"/>
              <a:pathLst>
                <a:path w="3619500" h="857250">
                  <a:moveTo>
                    <a:pt x="0" y="0"/>
                  </a:moveTo>
                  <a:lnTo>
                    <a:pt x="3619500" y="0"/>
                  </a:lnTo>
                  <a:lnTo>
                    <a:pt x="3619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492500" y="939800"/>
              <a:ext cx="2476500" cy="19050"/>
            </a:xfrm>
            <a:custGeom>
              <a:avLst/>
              <a:gdLst/>
              <a:ahLst/>
              <a:cxnLst/>
              <a:rect l="l" t="t" r="r" b="b"/>
              <a:pathLst>
                <a:path w="2476500" h="19050">
                  <a:moveTo>
                    <a:pt x="0" y="0"/>
                  </a:moveTo>
                  <a:lnTo>
                    <a:pt x="2476500" y="0"/>
                  </a:lnTo>
                  <a:lnTo>
                    <a:pt x="2476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409315" y="828040"/>
              <a:ext cx="242570" cy="242570"/>
            </a:xfrm>
            <a:custGeom>
              <a:avLst/>
              <a:gdLst/>
              <a:ahLst/>
              <a:cxnLst/>
              <a:rect l="l" t="t" r="r" b="b"/>
              <a:pathLst>
                <a:path w="242570" h="242570">
                  <a:moveTo>
                    <a:pt x="121285" y="0"/>
                  </a:moveTo>
                  <a:lnTo>
                    <a:pt x="242570" y="121285"/>
                  </a:lnTo>
                  <a:lnTo>
                    <a:pt x="121285" y="242570"/>
                  </a:lnTo>
                  <a:lnTo>
                    <a:pt x="0" y="121285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159000" y="539750"/>
              <a:ext cx="1333500" cy="857250"/>
            </a:xfrm>
            <a:custGeom>
              <a:avLst/>
              <a:gdLst/>
              <a:ahLst/>
              <a:cxnLst/>
              <a:rect l="l" t="t" r="r" b="b"/>
              <a:pathLst>
                <a:path w="1333500" h="857250">
                  <a:moveTo>
                    <a:pt x="0" y="0"/>
                  </a:moveTo>
                  <a:lnTo>
                    <a:pt x="1333500" y="0"/>
                  </a:lnTo>
                  <a:lnTo>
                    <a:pt x="1333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44500" y="939800"/>
              <a:ext cx="1714500" cy="19050"/>
            </a:xfrm>
            <a:custGeom>
              <a:avLst/>
              <a:gdLst/>
              <a:ahLst/>
              <a:cxnLst/>
              <a:rect l="l" t="t" r="r" b="b"/>
              <a:pathLst>
                <a:path w="1714500" h="19050">
                  <a:moveTo>
                    <a:pt x="0" y="0"/>
                  </a:moveTo>
                  <a:lnTo>
                    <a:pt x="1714500" y="0"/>
                  </a:lnTo>
                  <a:lnTo>
                    <a:pt x="1714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61315" y="828040"/>
              <a:ext cx="242570" cy="242570"/>
            </a:xfrm>
            <a:custGeom>
              <a:avLst/>
              <a:gdLst/>
              <a:ahLst/>
              <a:cxnLst/>
              <a:rect l="l" t="t" r="r" b="b"/>
              <a:pathLst>
                <a:path w="242570" h="242570">
                  <a:moveTo>
                    <a:pt x="121285" y="0"/>
                  </a:moveTo>
                  <a:lnTo>
                    <a:pt x="242570" y="121285"/>
                  </a:lnTo>
                  <a:lnTo>
                    <a:pt x="121285" y="242570"/>
                  </a:lnTo>
                  <a:lnTo>
                    <a:pt x="0" y="121285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44500" y="539750"/>
              <a:ext cx="1333500" cy="857250"/>
            </a:xfrm>
            <a:custGeom>
              <a:avLst/>
              <a:gdLst/>
              <a:ahLst/>
              <a:cxnLst/>
              <a:rect l="l" t="t" r="r" b="b"/>
              <a:pathLst>
                <a:path w="1333500" h="857250">
                  <a:moveTo>
                    <a:pt x="0" y="0"/>
                  </a:moveTo>
                  <a:lnTo>
                    <a:pt x="1333500" y="0"/>
                  </a:lnTo>
                  <a:lnTo>
                    <a:pt x="1333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769225" y="1397000"/>
              <a:ext cx="19050" cy="857250"/>
            </a:xfrm>
            <a:custGeom>
              <a:avLst/>
              <a:gdLst/>
              <a:ahLst/>
              <a:cxnLst/>
              <a:rect l="l" t="t" r="r" b="b"/>
              <a:pathLst>
                <a:path w="19050" h="857250">
                  <a:moveTo>
                    <a:pt x="0" y="0"/>
                  </a:moveTo>
                  <a:lnTo>
                    <a:pt x="19050" y="0"/>
                  </a:lnTo>
                  <a:lnTo>
                    <a:pt x="1905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731000" y="2225675"/>
              <a:ext cx="2095500" cy="19050"/>
            </a:xfrm>
            <a:custGeom>
              <a:avLst/>
              <a:gdLst/>
              <a:ahLst/>
              <a:cxnLst/>
              <a:rect l="l" t="t" r="r" b="b"/>
              <a:pathLst>
                <a:path w="2095500" h="19050">
                  <a:moveTo>
                    <a:pt x="0" y="0"/>
                  </a:moveTo>
                  <a:lnTo>
                    <a:pt x="2095500" y="0"/>
                  </a:lnTo>
                  <a:lnTo>
                    <a:pt x="2095500" y="19050"/>
                  </a:lnTo>
                  <a:lnTo>
                    <a:pt x="0" y="19050"/>
                  </a:lnTo>
                  <a:close/>
                </a:path>
              </a:pathLst>
            </a:custGeom>
            <a:blipFill>
              <a:blip r:embed="rId2"/>
              <a:stretch>
                <a:fillRect t="-6502173" b="-6502173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969000" y="2254250"/>
              <a:ext cx="1905000" cy="1333500"/>
            </a:xfrm>
            <a:custGeom>
              <a:avLst/>
              <a:gdLst/>
              <a:ahLst/>
              <a:cxnLst/>
              <a:rect l="l" t="t" r="r" b="b"/>
              <a:pathLst>
                <a:path w="1905000" h="1333500">
                  <a:moveTo>
                    <a:pt x="0" y="0"/>
                  </a:moveTo>
                  <a:lnTo>
                    <a:pt x="1905000" y="0"/>
                  </a:lnTo>
                  <a:lnTo>
                    <a:pt x="1905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2EEE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969000" y="2254250"/>
              <a:ext cx="1905000" cy="1333500"/>
            </a:xfrm>
            <a:custGeom>
              <a:avLst/>
              <a:gdLst/>
              <a:ahLst/>
              <a:cxnLst/>
              <a:rect l="l" t="t" r="r" b="b"/>
              <a:pathLst>
                <a:path w="1905000" h="1333500">
                  <a:moveTo>
                    <a:pt x="4826" y="0"/>
                  </a:moveTo>
                  <a:lnTo>
                    <a:pt x="1900174" y="0"/>
                  </a:lnTo>
                  <a:lnTo>
                    <a:pt x="1905000" y="0"/>
                  </a:lnTo>
                  <a:lnTo>
                    <a:pt x="1905000" y="4826"/>
                  </a:lnTo>
                  <a:lnTo>
                    <a:pt x="1905000" y="1328674"/>
                  </a:lnTo>
                  <a:lnTo>
                    <a:pt x="1905000" y="1333500"/>
                  </a:lnTo>
                  <a:lnTo>
                    <a:pt x="1900174" y="1333500"/>
                  </a:lnTo>
                  <a:lnTo>
                    <a:pt x="4826" y="1333500"/>
                  </a:lnTo>
                  <a:lnTo>
                    <a:pt x="0" y="1333500"/>
                  </a:lnTo>
                  <a:lnTo>
                    <a:pt x="0" y="1328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1328674"/>
                  </a:lnTo>
                  <a:lnTo>
                    <a:pt x="4826" y="1328674"/>
                  </a:lnTo>
                  <a:lnTo>
                    <a:pt x="4826" y="1323848"/>
                  </a:lnTo>
                  <a:lnTo>
                    <a:pt x="1900174" y="1323848"/>
                  </a:lnTo>
                  <a:lnTo>
                    <a:pt x="1900174" y="1328674"/>
                  </a:lnTo>
                  <a:lnTo>
                    <a:pt x="1895348" y="1328674"/>
                  </a:lnTo>
                  <a:lnTo>
                    <a:pt x="1895348" y="4826"/>
                  </a:lnTo>
                  <a:lnTo>
                    <a:pt x="1900174" y="4826"/>
                  </a:lnTo>
                  <a:lnTo>
                    <a:pt x="19001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7769225" y="1397000"/>
              <a:ext cx="19050" cy="857250"/>
            </a:xfrm>
            <a:custGeom>
              <a:avLst/>
              <a:gdLst/>
              <a:ahLst/>
              <a:cxnLst/>
              <a:rect l="l" t="t" r="r" b="b"/>
              <a:pathLst>
                <a:path w="19050" h="857250">
                  <a:moveTo>
                    <a:pt x="0" y="0"/>
                  </a:moveTo>
                  <a:lnTo>
                    <a:pt x="19050" y="0"/>
                  </a:lnTo>
                  <a:lnTo>
                    <a:pt x="19050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2"/>
              <a:stretch>
                <a:fillRect l="-1838686" r="-183868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7769225" y="2225675"/>
              <a:ext cx="1905000" cy="19050"/>
            </a:xfrm>
            <a:custGeom>
              <a:avLst/>
              <a:gdLst/>
              <a:ahLst/>
              <a:cxnLst/>
              <a:rect l="l" t="t" r="r" b="b"/>
              <a:pathLst>
                <a:path w="1905000" h="19050">
                  <a:moveTo>
                    <a:pt x="0" y="0"/>
                  </a:moveTo>
                  <a:lnTo>
                    <a:pt x="1905000" y="0"/>
                  </a:lnTo>
                  <a:lnTo>
                    <a:pt x="1905000" y="19050"/>
                  </a:lnTo>
                  <a:lnTo>
                    <a:pt x="0" y="19050"/>
                  </a:lnTo>
                  <a:close/>
                </a:path>
              </a:pathLst>
            </a:custGeom>
            <a:blipFill>
              <a:blip r:embed="rId2"/>
              <a:stretch>
                <a:fillRect t="-5906521" b="-590652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9683750" y="2254250"/>
              <a:ext cx="1905000" cy="1333500"/>
            </a:xfrm>
            <a:custGeom>
              <a:avLst/>
              <a:gdLst/>
              <a:ahLst/>
              <a:cxnLst/>
              <a:rect l="l" t="t" r="r" b="b"/>
              <a:pathLst>
                <a:path w="1905000" h="1333500">
                  <a:moveTo>
                    <a:pt x="0" y="0"/>
                  </a:moveTo>
                  <a:lnTo>
                    <a:pt x="1905000" y="0"/>
                  </a:lnTo>
                  <a:lnTo>
                    <a:pt x="1905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2EEE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9683750" y="2254250"/>
              <a:ext cx="1905000" cy="1333500"/>
            </a:xfrm>
            <a:custGeom>
              <a:avLst/>
              <a:gdLst/>
              <a:ahLst/>
              <a:cxnLst/>
              <a:rect l="l" t="t" r="r" b="b"/>
              <a:pathLst>
                <a:path w="1905000" h="1333500">
                  <a:moveTo>
                    <a:pt x="4826" y="0"/>
                  </a:moveTo>
                  <a:lnTo>
                    <a:pt x="1900174" y="0"/>
                  </a:lnTo>
                  <a:lnTo>
                    <a:pt x="1905000" y="0"/>
                  </a:lnTo>
                  <a:lnTo>
                    <a:pt x="1905000" y="4826"/>
                  </a:lnTo>
                  <a:lnTo>
                    <a:pt x="1905000" y="1328674"/>
                  </a:lnTo>
                  <a:lnTo>
                    <a:pt x="1905000" y="1333500"/>
                  </a:lnTo>
                  <a:lnTo>
                    <a:pt x="1900174" y="1333500"/>
                  </a:lnTo>
                  <a:lnTo>
                    <a:pt x="4826" y="1333500"/>
                  </a:lnTo>
                  <a:lnTo>
                    <a:pt x="0" y="1333500"/>
                  </a:lnTo>
                  <a:lnTo>
                    <a:pt x="0" y="1328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1328674"/>
                  </a:lnTo>
                  <a:lnTo>
                    <a:pt x="4826" y="1328674"/>
                  </a:lnTo>
                  <a:lnTo>
                    <a:pt x="4826" y="1323848"/>
                  </a:lnTo>
                  <a:lnTo>
                    <a:pt x="1900174" y="1323848"/>
                  </a:lnTo>
                  <a:lnTo>
                    <a:pt x="1900174" y="1328674"/>
                  </a:lnTo>
                  <a:lnTo>
                    <a:pt x="1895348" y="1328674"/>
                  </a:lnTo>
                  <a:lnTo>
                    <a:pt x="1895348" y="4826"/>
                  </a:lnTo>
                  <a:lnTo>
                    <a:pt x="1900174" y="4826"/>
                  </a:lnTo>
                  <a:lnTo>
                    <a:pt x="19001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9144000" y="4985157"/>
            <a:ext cx="721498" cy="876002"/>
          </a:xfrm>
          <a:prstGeom prst="line">
            <a:avLst/>
          </a:prstGeom>
          <a:ln w="38100" cap="flat">
            <a:solidFill>
              <a:srgbClr val="1E40A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Box 29"/>
          <p:cNvSpPr txBox="1"/>
          <p:nvPr/>
        </p:nvSpPr>
        <p:spPr>
          <a:xfrm>
            <a:off x="14859000" y="2691414"/>
            <a:ext cx="1605386" cy="247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516" spc="454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DIAGRAMA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459200" y="2691414"/>
            <a:ext cx="1211599" cy="247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516" spc="454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LÓGICO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3000" y="719090"/>
            <a:ext cx="45720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ARQUITETURA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3000" y="1853522"/>
            <a:ext cx="7594087" cy="809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Estrutura do projeto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76089" y="4165687"/>
            <a:ext cx="2166890" cy="3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Veiculo abstrato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725486" y="4264571"/>
            <a:ext cx="1374305" cy="19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RelatorioSeguro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29168" y="4205607"/>
            <a:ext cx="560956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06243" y="6323240"/>
            <a:ext cx="848973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Carro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340834" y="6323240"/>
            <a:ext cx="781793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B7431A"/>
                </a:solidFill>
                <a:latin typeface="Inter"/>
                <a:ea typeface="Inter"/>
                <a:cs typeface="Inter"/>
                <a:sym typeface="Inter"/>
              </a:rPr>
              <a:t>Moto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11655" y="4947057"/>
            <a:ext cx="924388" cy="266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Cria a lista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75670" y="4996653"/>
            <a:ext cx="1810729" cy="248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dirty="0" err="1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Formata</a:t>
            </a:r>
            <a:r>
              <a:rPr lang="en-US" sz="1500" dirty="0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 e soma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79362" y="6749857"/>
            <a:ext cx="779859" cy="266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Taxa 5%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338799" y="6749857"/>
            <a:ext cx="783828" cy="266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Taxa 8%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3000" y="8419838"/>
            <a:ext cx="805491" cy="1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174" spc="352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CÓDIGO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29168" y="8414906"/>
            <a:ext cx="1208154" cy="1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174" spc="352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PRINCIPAL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810500" y="8419838"/>
            <a:ext cx="805491" cy="1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174" spc="352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11655" y="8419838"/>
            <a:ext cx="89628" cy="1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174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43000" y="8722238"/>
            <a:ext cx="6132711" cy="38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src/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grupo3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seguros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10500" y="8722238"/>
            <a:ext cx="6132711" cy="38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src/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grupo3</a:t>
            </a:r>
            <a:r>
              <a:rPr lang="en-US" sz="22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22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seguros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79586" y="9658350"/>
            <a:ext cx="91447" cy="20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80754" y="9658350"/>
            <a:ext cx="2124446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ARQUITETURA</a:t>
            </a:r>
          </a:p>
        </p:txBody>
      </p:sp>
      <p:sp>
        <p:nvSpPr>
          <p:cNvPr id="50" name="AutoShape 50"/>
          <p:cNvSpPr/>
          <p:nvPr/>
        </p:nvSpPr>
        <p:spPr>
          <a:xfrm flipH="1" flipV="1">
            <a:off x="11802830" y="5030051"/>
            <a:ext cx="1070923" cy="777117"/>
          </a:xfrm>
          <a:prstGeom prst="line">
            <a:avLst/>
          </a:prstGeom>
          <a:ln w="38100" cap="flat">
            <a:solidFill>
              <a:srgbClr val="1E40A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Box 51"/>
          <p:cNvSpPr txBox="1"/>
          <p:nvPr/>
        </p:nvSpPr>
        <p:spPr>
          <a:xfrm>
            <a:off x="9614901" y="5480133"/>
            <a:ext cx="2723390" cy="240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1" dirty="0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Define o </a:t>
            </a:r>
            <a:r>
              <a:rPr lang="en-US" sz="1400" spc="1" dirty="0" err="1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comportamento</a:t>
            </a:r>
            <a:r>
              <a:rPr lang="en-US" sz="1400" spc="1" dirty="0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spc="1" dirty="0" err="1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comum</a:t>
            </a:r>
            <a:endParaRPr lang="en-US" sz="1400" spc="1" dirty="0">
              <a:solidFill>
                <a:srgbClr val="6B6F7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1066800"/>
            <a:ext cx="571500" cy="19050"/>
            <a:chOff x="0" y="0"/>
            <a:chExt cx="5715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9497" y="3555997"/>
            <a:ext cx="16319497" cy="6032497"/>
            <a:chOff x="0" y="0"/>
            <a:chExt cx="16319500" cy="6032500"/>
          </a:xfrm>
        </p:grpSpPr>
        <p:sp>
          <p:nvSpPr>
            <p:cNvPr id="5" name="Freeform 5"/>
            <p:cNvSpPr/>
            <p:nvPr/>
          </p:nvSpPr>
          <p:spPr>
            <a:xfrm>
              <a:off x="63500" y="5949950"/>
              <a:ext cx="16002000" cy="9525"/>
            </a:xfrm>
            <a:custGeom>
              <a:avLst/>
              <a:gdLst/>
              <a:ahLst/>
              <a:cxnLst/>
              <a:rect l="l" t="t" r="r" b="b"/>
              <a:pathLst>
                <a:path w="16002000" h="9525">
                  <a:moveTo>
                    <a:pt x="0" y="0"/>
                  </a:moveTo>
                  <a:lnTo>
                    <a:pt x="16002000" y="0"/>
                  </a:lnTo>
                  <a:lnTo>
                    <a:pt x="16002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0287000" cy="5905500"/>
            </a:xfrm>
            <a:custGeom>
              <a:avLst/>
              <a:gdLst/>
              <a:ahLst/>
              <a:cxnLst/>
              <a:rect l="l" t="t" r="r" b="b"/>
              <a:pathLst>
                <a:path w="10287000" h="5905500">
                  <a:moveTo>
                    <a:pt x="0" y="0"/>
                  </a:moveTo>
                  <a:lnTo>
                    <a:pt x="10287000" y="0"/>
                  </a:lnTo>
                  <a:lnTo>
                    <a:pt x="1028700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0B142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/>
            <p:cNvSpPr/>
            <p:nvPr/>
          </p:nvSpPr>
          <p:spPr>
            <a:xfrm>
              <a:off x="10922000" y="63500"/>
              <a:ext cx="5334000" cy="1619250"/>
            </a:xfrm>
            <a:custGeom>
              <a:avLst/>
              <a:gdLst/>
              <a:ahLst/>
              <a:cxnLst/>
              <a:rect l="l" t="t" r="r" b="b"/>
              <a:pathLst>
                <a:path w="5334000" h="1619250">
                  <a:moveTo>
                    <a:pt x="0" y="0"/>
                  </a:moveTo>
                  <a:lnTo>
                    <a:pt x="5334000" y="0"/>
                  </a:lnTo>
                  <a:lnTo>
                    <a:pt x="5334000" y="1619250"/>
                  </a:lnTo>
                  <a:lnTo>
                    <a:pt x="0" y="161925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922000" y="63500"/>
              <a:ext cx="5334127" cy="1619250"/>
            </a:xfrm>
            <a:custGeom>
              <a:avLst/>
              <a:gdLst/>
              <a:ahLst/>
              <a:cxnLst/>
              <a:rect l="l" t="t" r="r" b="b"/>
              <a:pathLst>
                <a:path w="5334127" h="1619250">
                  <a:moveTo>
                    <a:pt x="4826" y="0"/>
                  </a:moveTo>
                  <a:lnTo>
                    <a:pt x="5329301" y="0"/>
                  </a:lnTo>
                  <a:lnTo>
                    <a:pt x="5334127" y="0"/>
                  </a:lnTo>
                  <a:lnTo>
                    <a:pt x="5334127" y="4826"/>
                  </a:lnTo>
                  <a:lnTo>
                    <a:pt x="5334127" y="1614424"/>
                  </a:lnTo>
                  <a:lnTo>
                    <a:pt x="5334127" y="1619250"/>
                  </a:lnTo>
                  <a:lnTo>
                    <a:pt x="5329301" y="1619250"/>
                  </a:lnTo>
                  <a:lnTo>
                    <a:pt x="4826" y="1619250"/>
                  </a:lnTo>
                  <a:lnTo>
                    <a:pt x="0" y="1619250"/>
                  </a:lnTo>
                  <a:lnTo>
                    <a:pt x="0" y="161442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1614424"/>
                  </a:lnTo>
                  <a:lnTo>
                    <a:pt x="4826" y="1614424"/>
                  </a:lnTo>
                  <a:lnTo>
                    <a:pt x="4826" y="1609598"/>
                  </a:lnTo>
                  <a:lnTo>
                    <a:pt x="5329301" y="1609598"/>
                  </a:lnTo>
                  <a:lnTo>
                    <a:pt x="5329301" y="1614424"/>
                  </a:lnTo>
                  <a:lnTo>
                    <a:pt x="5324475" y="1614424"/>
                  </a:lnTo>
                  <a:lnTo>
                    <a:pt x="5324475" y="4826"/>
                  </a:lnTo>
                  <a:lnTo>
                    <a:pt x="5329301" y="4826"/>
                  </a:lnTo>
                  <a:lnTo>
                    <a:pt x="5329301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10922000" y="187325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0"/>
                  </a:moveTo>
                  <a:lnTo>
                    <a:pt x="5334000" y="0"/>
                  </a:lnTo>
                  <a:lnTo>
                    <a:pt x="533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922000" y="1873250"/>
              <a:ext cx="5334127" cy="1905000"/>
            </a:xfrm>
            <a:custGeom>
              <a:avLst/>
              <a:gdLst/>
              <a:ahLst/>
              <a:cxnLst/>
              <a:rect l="l" t="t" r="r" b="b"/>
              <a:pathLst>
                <a:path w="5334127" h="1905000">
                  <a:moveTo>
                    <a:pt x="4826" y="0"/>
                  </a:moveTo>
                  <a:lnTo>
                    <a:pt x="5329301" y="0"/>
                  </a:lnTo>
                  <a:lnTo>
                    <a:pt x="5334127" y="0"/>
                  </a:lnTo>
                  <a:lnTo>
                    <a:pt x="5334127" y="4826"/>
                  </a:lnTo>
                  <a:lnTo>
                    <a:pt x="5334127" y="1900174"/>
                  </a:lnTo>
                  <a:lnTo>
                    <a:pt x="5334127" y="1905000"/>
                  </a:lnTo>
                  <a:lnTo>
                    <a:pt x="5329301" y="1905000"/>
                  </a:lnTo>
                  <a:lnTo>
                    <a:pt x="4826" y="1905000"/>
                  </a:lnTo>
                  <a:lnTo>
                    <a:pt x="0" y="1905000"/>
                  </a:lnTo>
                  <a:lnTo>
                    <a:pt x="0" y="19001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1900174"/>
                  </a:lnTo>
                  <a:lnTo>
                    <a:pt x="4826" y="1900174"/>
                  </a:lnTo>
                  <a:lnTo>
                    <a:pt x="4826" y="1895348"/>
                  </a:lnTo>
                  <a:lnTo>
                    <a:pt x="5329301" y="1895348"/>
                  </a:lnTo>
                  <a:lnTo>
                    <a:pt x="5329301" y="1900174"/>
                  </a:lnTo>
                  <a:lnTo>
                    <a:pt x="5324475" y="1900174"/>
                  </a:lnTo>
                  <a:lnTo>
                    <a:pt x="5324475" y="4826"/>
                  </a:lnTo>
                  <a:lnTo>
                    <a:pt x="5329301" y="4826"/>
                  </a:lnTo>
                  <a:lnTo>
                    <a:pt x="5329301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922000" y="3968750"/>
              <a:ext cx="5334000" cy="2000250"/>
            </a:xfrm>
            <a:custGeom>
              <a:avLst/>
              <a:gdLst/>
              <a:ahLst/>
              <a:cxnLst/>
              <a:rect l="l" t="t" r="r" b="b"/>
              <a:pathLst>
                <a:path w="5334000" h="2000250">
                  <a:moveTo>
                    <a:pt x="0" y="0"/>
                  </a:moveTo>
                  <a:lnTo>
                    <a:pt x="5334000" y="0"/>
                  </a:lnTo>
                  <a:lnTo>
                    <a:pt x="5334000" y="2000250"/>
                  </a:lnTo>
                  <a:lnTo>
                    <a:pt x="0" y="200025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0922000" y="3968750"/>
              <a:ext cx="5334127" cy="2000250"/>
            </a:xfrm>
            <a:custGeom>
              <a:avLst/>
              <a:gdLst/>
              <a:ahLst/>
              <a:cxnLst/>
              <a:rect l="l" t="t" r="r" b="b"/>
              <a:pathLst>
                <a:path w="5334127" h="2000250">
                  <a:moveTo>
                    <a:pt x="4826" y="0"/>
                  </a:moveTo>
                  <a:lnTo>
                    <a:pt x="5329301" y="0"/>
                  </a:lnTo>
                  <a:lnTo>
                    <a:pt x="5334127" y="0"/>
                  </a:lnTo>
                  <a:lnTo>
                    <a:pt x="5334127" y="4826"/>
                  </a:lnTo>
                  <a:lnTo>
                    <a:pt x="5334127" y="1995424"/>
                  </a:lnTo>
                  <a:lnTo>
                    <a:pt x="5334127" y="2000250"/>
                  </a:lnTo>
                  <a:lnTo>
                    <a:pt x="5329301" y="2000250"/>
                  </a:lnTo>
                  <a:lnTo>
                    <a:pt x="4826" y="2000250"/>
                  </a:lnTo>
                  <a:lnTo>
                    <a:pt x="0" y="2000250"/>
                  </a:lnTo>
                  <a:lnTo>
                    <a:pt x="0" y="199542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1995424"/>
                  </a:lnTo>
                  <a:lnTo>
                    <a:pt x="4826" y="1995424"/>
                  </a:lnTo>
                  <a:lnTo>
                    <a:pt x="4826" y="1990598"/>
                  </a:lnTo>
                  <a:lnTo>
                    <a:pt x="5329301" y="1990598"/>
                  </a:lnTo>
                  <a:lnTo>
                    <a:pt x="5329301" y="1995424"/>
                  </a:lnTo>
                  <a:lnTo>
                    <a:pt x="5324475" y="1995424"/>
                  </a:lnTo>
                  <a:lnTo>
                    <a:pt x="5324475" y="4826"/>
                  </a:lnTo>
                  <a:lnTo>
                    <a:pt x="5329301" y="4826"/>
                  </a:lnTo>
                  <a:lnTo>
                    <a:pt x="5329301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500" y="63500"/>
              <a:ext cx="57150" cy="5905500"/>
            </a:xfrm>
            <a:custGeom>
              <a:avLst/>
              <a:gdLst/>
              <a:ahLst/>
              <a:cxnLst/>
              <a:rect l="l" t="t" r="r" b="b"/>
              <a:pathLst>
                <a:path w="57150" h="5905500">
                  <a:moveTo>
                    <a:pt x="0" y="0"/>
                  </a:moveTo>
                  <a:lnTo>
                    <a:pt x="57150" y="0"/>
                  </a:lnTo>
                  <a:lnTo>
                    <a:pt x="5715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922000" y="63500"/>
              <a:ext cx="57150" cy="1619250"/>
            </a:xfrm>
            <a:custGeom>
              <a:avLst/>
              <a:gdLst/>
              <a:ahLst/>
              <a:cxnLst/>
              <a:rect l="l" t="t" r="r" b="b"/>
              <a:pathLst>
                <a:path w="57150" h="1619250">
                  <a:moveTo>
                    <a:pt x="0" y="0"/>
                  </a:moveTo>
                  <a:lnTo>
                    <a:pt x="57150" y="0"/>
                  </a:lnTo>
                  <a:lnTo>
                    <a:pt x="57150" y="1619250"/>
                  </a:lnTo>
                  <a:lnTo>
                    <a:pt x="0" y="16192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0922000" y="1873250"/>
              <a:ext cx="57150" cy="1905000"/>
            </a:xfrm>
            <a:custGeom>
              <a:avLst/>
              <a:gdLst/>
              <a:ahLst/>
              <a:cxnLst/>
              <a:rect l="l" t="t" r="r" b="b"/>
              <a:pathLst>
                <a:path w="57150" h="1905000">
                  <a:moveTo>
                    <a:pt x="0" y="0"/>
                  </a:moveTo>
                  <a:lnTo>
                    <a:pt x="57150" y="0"/>
                  </a:lnTo>
                  <a:lnTo>
                    <a:pt x="5715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922000" y="3968750"/>
              <a:ext cx="57150" cy="2000250"/>
            </a:xfrm>
            <a:custGeom>
              <a:avLst/>
              <a:gdLst/>
              <a:ahLst/>
              <a:cxnLst/>
              <a:rect l="l" t="t" r="r" b="b"/>
              <a:pathLst>
                <a:path w="57150" h="2000250">
                  <a:moveTo>
                    <a:pt x="0" y="0"/>
                  </a:moveTo>
                  <a:lnTo>
                    <a:pt x="57150" y="0"/>
                  </a:lnTo>
                  <a:lnTo>
                    <a:pt x="57150" y="2000250"/>
                  </a:lnTo>
                  <a:lnTo>
                    <a:pt x="0" y="2000250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2999" y="719757"/>
            <a:ext cx="3306341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CLASSE 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1474241"/>
            <a:ext cx="5307673" cy="147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Abstração na classe </a:t>
            </a:r>
            <a:r>
              <a:rPr lang="en-US" sz="60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Veiculo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53048" y="3817391"/>
            <a:ext cx="2175916" cy="24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42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VEICULO.JAVA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14532" y="3817391"/>
            <a:ext cx="114432" cy="266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78622" y="3817391"/>
            <a:ext cx="869578" cy="24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42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36178" y="3817391"/>
            <a:ext cx="2017021" cy="24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420" dirty="0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8483384"/>
            <a:ext cx="167944" cy="36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4454053"/>
            <a:ext cx="3526839" cy="36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C58B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abstract class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46526" y="4409323"/>
            <a:ext cx="1511529" cy="36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Veiculo {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82668" y="4860274"/>
            <a:ext cx="2183275" cy="870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73"/>
              </a:lnSpc>
            </a:pPr>
            <a:r>
              <a:rPr lang="en-US" sz="2160">
                <a:solidFill>
                  <a:srgbClr val="C58B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final private final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88017" y="4815544"/>
            <a:ext cx="2351324" cy="870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160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modelo;</a:t>
            </a:r>
          </a:p>
          <a:p>
            <a:pPr algn="l">
              <a:lnSpc>
                <a:spcPts val="3573"/>
              </a:lnSpc>
            </a:pPr>
            <a:r>
              <a:rPr lang="en-US" sz="2160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 valor;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82668" y="8074268"/>
            <a:ext cx="3694783" cy="36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C58B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abstract double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69782" y="8029538"/>
            <a:ext cx="2855115" cy="36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calcularSeguro();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82668" y="6269438"/>
            <a:ext cx="1511498" cy="36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C58B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protected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29349" y="6224707"/>
            <a:ext cx="6382291" cy="36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Veiculo(String modelo, double valor) {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07720" y="6657144"/>
            <a:ext cx="2283691" cy="437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i="1">
                <a:solidFill>
                  <a:srgbClr val="6B728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// validações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82605" y="7121845"/>
            <a:ext cx="167944" cy="36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238760" y="3807866"/>
            <a:ext cx="1604771" cy="44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580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62958" y="4346617"/>
            <a:ext cx="58773" cy="25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613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38760" y="5754000"/>
            <a:ext cx="2607747" cy="44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580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final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84244" y="6292750"/>
            <a:ext cx="58773" cy="25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613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38760" y="8007417"/>
            <a:ext cx="2808342" cy="44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580">
                <a:solidFill>
                  <a:srgbClr val="B743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calcularSeguro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890244" y="8546168"/>
            <a:ext cx="58773" cy="25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613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38760" y="6292750"/>
            <a:ext cx="5159353" cy="25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613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Protege osdadosemantémmodelo e valor estáveis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238760" y="6589792"/>
            <a:ext cx="1888948" cy="25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613" spc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após a construção.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238760" y="8547710"/>
            <a:ext cx="4547852" cy="57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613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Obriga cada subclasse a fornecer sua própria regra.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238760" y="4346617"/>
            <a:ext cx="4811795" cy="57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613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Impede a criação de um veículo genérico e define uma base comum.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3000" y="9845669"/>
            <a:ext cx="8384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44168" y="9845669"/>
            <a:ext cx="1932432" cy="177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spc="308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1066800"/>
            <a:ext cx="571500" cy="19050"/>
            <a:chOff x="0" y="0"/>
            <a:chExt cx="5715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3000" y="9067800"/>
            <a:ext cx="16002000" cy="9525"/>
            <a:chOff x="0" y="0"/>
            <a:chExt cx="16002000" cy="9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002000" cy="9525"/>
            </a:xfrm>
            <a:custGeom>
              <a:avLst/>
              <a:gdLst/>
              <a:ahLst/>
              <a:cxnLst/>
              <a:rect l="l" t="t" r="r" b="b"/>
              <a:pathLst>
                <a:path w="16002000" h="9525">
                  <a:moveTo>
                    <a:pt x="0" y="0"/>
                  </a:moveTo>
                  <a:lnTo>
                    <a:pt x="16002000" y="0"/>
                  </a:lnTo>
                  <a:lnTo>
                    <a:pt x="16002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41497" y="3555997"/>
            <a:ext cx="14604997" cy="5270497"/>
            <a:chOff x="0" y="0"/>
            <a:chExt cx="14605000" cy="5270500"/>
          </a:xfrm>
        </p:grpSpPr>
        <p:sp>
          <p:nvSpPr>
            <p:cNvPr id="7" name="Freeform 7"/>
            <p:cNvSpPr/>
            <p:nvPr/>
          </p:nvSpPr>
          <p:spPr>
            <a:xfrm>
              <a:off x="4445000" y="63500"/>
              <a:ext cx="5715000" cy="952500"/>
            </a:xfrm>
            <a:custGeom>
              <a:avLst/>
              <a:gdLst/>
              <a:ahLst/>
              <a:cxnLst/>
              <a:rect l="l" t="t" r="r" b="b"/>
              <a:pathLst>
                <a:path w="5715000" h="952500">
                  <a:moveTo>
                    <a:pt x="0" y="0"/>
                  </a:moveTo>
                  <a:lnTo>
                    <a:pt x="5715000" y="0"/>
                  </a:lnTo>
                  <a:lnTo>
                    <a:pt x="57150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7292975" y="1111250"/>
              <a:ext cx="19050" cy="857250"/>
            </a:xfrm>
            <a:custGeom>
              <a:avLst/>
              <a:gdLst/>
              <a:ahLst/>
              <a:cxnLst/>
              <a:rect l="l" t="t" r="r" b="b"/>
              <a:pathLst>
                <a:path w="19050" h="857250">
                  <a:moveTo>
                    <a:pt x="0" y="0"/>
                  </a:moveTo>
                  <a:lnTo>
                    <a:pt x="19050" y="0"/>
                  </a:lnTo>
                  <a:lnTo>
                    <a:pt x="1905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54250" y="1949450"/>
              <a:ext cx="5334000" cy="19050"/>
            </a:xfrm>
            <a:custGeom>
              <a:avLst/>
              <a:gdLst/>
              <a:ahLst/>
              <a:cxnLst/>
              <a:rect l="l" t="t" r="r" b="b"/>
              <a:pathLst>
                <a:path w="5334000" h="19050">
                  <a:moveTo>
                    <a:pt x="0" y="0"/>
                  </a:moveTo>
                  <a:lnTo>
                    <a:pt x="5334000" y="0"/>
                  </a:lnTo>
                  <a:lnTo>
                    <a:pt x="533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71065" y="1837690"/>
              <a:ext cx="242570" cy="242570"/>
            </a:xfrm>
            <a:custGeom>
              <a:avLst/>
              <a:gdLst/>
              <a:ahLst/>
              <a:cxnLst/>
              <a:rect l="l" t="t" r="r" b="b"/>
              <a:pathLst>
                <a:path w="242570" h="242570">
                  <a:moveTo>
                    <a:pt x="121285" y="0"/>
                  </a:moveTo>
                  <a:lnTo>
                    <a:pt x="242570" y="121285"/>
                  </a:lnTo>
                  <a:lnTo>
                    <a:pt x="121285" y="242570"/>
                  </a:lnTo>
                  <a:lnTo>
                    <a:pt x="0" y="121285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7600315" y="1837690"/>
              <a:ext cx="242570" cy="242570"/>
            </a:xfrm>
            <a:custGeom>
              <a:avLst/>
              <a:gdLst/>
              <a:ahLst/>
              <a:cxnLst/>
              <a:rect l="l" t="t" r="r" b="b"/>
              <a:pathLst>
                <a:path w="242570" h="242570">
                  <a:moveTo>
                    <a:pt x="121285" y="0"/>
                  </a:moveTo>
                  <a:lnTo>
                    <a:pt x="242570" y="121285"/>
                  </a:lnTo>
                  <a:lnTo>
                    <a:pt x="121285" y="242570"/>
                  </a:lnTo>
                  <a:lnTo>
                    <a:pt x="0" y="121285"/>
                  </a:lnTo>
                  <a:close/>
                </a:path>
              </a:pathLst>
            </a:custGeom>
            <a:blipFill>
              <a:blip r:embed="rId2"/>
              <a:stretch>
                <a:fillRect t="-4761" b="-476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500" y="1968500"/>
              <a:ext cx="6286500" cy="3238500"/>
            </a:xfrm>
            <a:custGeom>
              <a:avLst/>
              <a:gdLst/>
              <a:ahLst/>
              <a:cxnLst/>
              <a:rect l="l" t="t" r="r" b="b"/>
              <a:pathLst>
                <a:path w="6286500" h="3238500">
                  <a:moveTo>
                    <a:pt x="0" y="0"/>
                  </a:moveTo>
                  <a:lnTo>
                    <a:pt x="6286500" y="0"/>
                  </a:lnTo>
                  <a:lnTo>
                    <a:pt x="6286500" y="3238500"/>
                  </a:lnTo>
                  <a:lnTo>
                    <a:pt x="0" y="32385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500" y="1968500"/>
              <a:ext cx="6286500" cy="3238500"/>
            </a:xfrm>
            <a:custGeom>
              <a:avLst/>
              <a:gdLst/>
              <a:ahLst/>
              <a:cxnLst/>
              <a:rect l="l" t="t" r="r" b="b"/>
              <a:pathLst>
                <a:path w="6286500" h="3238500">
                  <a:moveTo>
                    <a:pt x="4826" y="0"/>
                  </a:moveTo>
                  <a:lnTo>
                    <a:pt x="6281801" y="0"/>
                  </a:lnTo>
                  <a:lnTo>
                    <a:pt x="6286500" y="0"/>
                  </a:lnTo>
                  <a:lnTo>
                    <a:pt x="6286500" y="4826"/>
                  </a:lnTo>
                  <a:lnTo>
                    <a:pt x="6286500" y="3233674"/>
                  </a:lnTo>
                  <a:lnTo>
                    <a:pt x="6286500" y="3238500"/>
                  </a:lnTo>
                  <a:lnTo>
                    <a:pt x="6281674" y="3238500"/>
                  </a:lnTo>
                  <a:lnTo>
                    <a:pt x="4826" y="3238500"/>
                  </a:lnTo>
                  <a:lnTo>
                    <a:pt x="0" y="3238500"/>
                  </a:lnTo>
                  <a:lnTo>
                    <a:pt x="0" y="3233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3233674"/>
                  </a:lnTo>
                  <a:lnTo>
                    <a:pt x="4826" y="3233674"/>
                  </a:lnTo>
                  <a:lnTo>
                    <a:pt x="4826" y="3228848"/>
                  </a:lnTo>
                  <a:lnTo>
                    <a:pt x="6281801" y="3228848"/>
                  </a:lnTo>
                  <a:lnTo>
                    <a:pt x="6281801" y="3233674"/>
                  </a:lnTo>
                  <a:lnTo>
                    <a:pt x="6276975" y="3233674"/>
                  </a:lnTo>
                  <a:lnTo>
                    <a:pt x="6276975" y="4826"/>
                  </a:lnTo>
                  <a:lnTo>
                    <a:pt x="6281801" y="4826"/>
                  </a:lnTo>
                  <a:lnTo>
                    <a:pt x="6281801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8255000" y="1968500"/>
              <a:ext cx="6286500" cy="3238500"/>
            </a:xfrm>
            <a:custGeom>
              <a:avLst/>
              <a:gdLst/>
              <a:ahLst/>
              <a:cxnLst/>
              <a:rect l="l" t="t" r="r" b="b"/>
              <a:pathLst>
                <a:path w="6286500" h="3238500">
                  <a:moveTo>
                    <a:pt x="0" y="0"/>
                  </a:moveTo>
                  <a:lnTo>
                    <a:pt x="6286500" y="0"/>
                  </a:lnTo>
                  <a:lnTo>
                    <a:pt x="6286500" y="3238500"/>
                  </a:lnTo>
                  <a:lnTo>
                    <a:pt x="0" y="32385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8255000" y="1968500"/>
              <a:ext cx="6286627" cy="3238500"/>
            </a:xfrm>
            <a:custGeom>
              <a:avLst/>
              <a:gdLst/>
              <a:ahLst/>
              <a:cxnLst/>
              <a:rect l="l" t="t" r="r" b="b"/>
              <a:pathLst>
                <a:path w="6286627" h="3238500">
                  <a:moveTo>
                    <a:pt x="4826" y="0"/>
                  </a:moveTo>
                  <a:lnTo>
                    <a:pt x="6281801" y="0"/>
                  </a:lnTo>
                  <a:lnTo>
                    <a:pt x="6286627" y="0"/>
                  </a:lnTo>
                  <a:lnTo>
                    <a:pt x="6286627" y="4826"/>
                  </a:lnTo>
                  <a:lnTo>
                    <a:pt x="6286627" y="3233674"/>
                  </a:lnTo>
                  <a:lnTo>
                    <a:pt x="6286627" y="3238500"/>
                  </a:lnTo>
                  <a:lnTo>
                    <a:pt x="6281801" y="3238500"/>
                  </a:lnTo>
                  <a:lnTo>
                    <a:pt x="4826" y="3238500"/>
                  </a:lnTo>
                  <a:lnTo>
                    <a:pt x="0" y="3238500"/>
                  </a:lnTo>
                  <a:lnTo>
                    <a:pt x="0" y="3233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3233674"/>
                  </a:lnTo>
                  <a:lnTo>
                    <a:pt x="4826" y="3233674"/>
                  </a:lnTo>
                  <a:lnTo>
                    <a:pt x="4826" y="3228848"/>
                  </a:lnTo>
                  <a:lnTo>
                    <a:pt x="6281801" y="3228848"/>
                  </a:lnTo>
                  <a:lnTo>
                    <a:pt x="6281801" y="3233674"/>
                  </a:lnTo>
                  <a:lnTo>
                    <a:pt x="6276975" y="3233674"/>
                  </a:lnTo>
                  <a:lnTo>
                    <a:pt x="6276975" y="4826"/>
                  </a:lnTo>
                  <a:lnTo>
                    <a:pt x="6281801" y="4826"/>
                  </a:lnTo>
                  <a:lnTo>
                    <a:pt x="6281801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968500"/>
              <a:ext cx="57150" cy="3238500"/>
            </a:xfrm>
            <a:custGeom>
              <a:avLst/>
              <a:gdLst/>
              <a:ahLst/>
              <a:cxnLst/>
              <a:rect l="l" t="t" r="r" b="b"/>
              <a:pathLst>
                <a:path w="57150" h="3238500">
                  <a:moveTo>
                    <a:pt x="0" y="0"/>
                  </a:moveTo>
                  <a:lnTo>
                    <a:pt x="57150" y="0"/>
                  </a:lnTo>
                  <a:lnTo>
                    <a:pt x="57150" y="3238500"/>
                  </a:lnTo>
                  <a:lnTo>
                    <a:pt x="0" y="32385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63550" y="282575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255000" y="1968500"/>
              <a:ext cx="57150" cy="3238500"/>
            </a:xfrm>
            <a:custGeom>
              <a:avLst/>
              <a:gdLst/>
              <a:ahLst/>
              <a:cxnLst/>
              <a:rect l="l" t="t" r="r" b="b"/>
              <a:pathLst>
                <a:path w="57150" h="3238500">
                  <a:moveTo>
                    <a:pt x="0" y="0"/>
                  </a:moveTo>
                  <a:lnTo>
                    <a:pt x="57150" y="0"/>
                  </a:lnTo>
                  <a:lnTo>
                    <a:pt x="57150" y="3238500"/>
                  </a:lnTo>
                  <a:lnTo>
                    <a:pt x="0" y="3238500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8655050" y="282575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419231" y="5398659"/>
            <a:ext cx="291257" cy="134459"/>
            <a:chOff x="0" y="0"/>
            <a:chExt cx="812800" cy="3752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375231"/>
            </a:xfrm>
            <a:custGeom>
              <a:avLst/>
              <a:gdLst/>
              <a:ahLst/>
              <a:cxnLst/>
              <a:rect l="l" t="t" r="r" b="b"/>
              <a:pathLst>
                <a:path w="812800" h="375231">
                  <a:moveTo>
                    <a:pt x="406400" y="0"/>
                  </a:moveTo>
                  <a:lnTo>
                    <a:pt x="812800" y="375231"/>
                  </a:lnTo>
                  <a:lnTo>
                    <a:pt x="0" y="37523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B142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7000" y="136114"/>
              <a:ext cx="558800" cy="212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9402669" y="5514068"/>
            <a:ext cx="5135006" cy="0"/>
          </a:xfrm>
          <a:prstGeom prst="line">
            <a:avLst/>
          </a:prstGeom>
          <a:ln w="19050" cap="flat">
            <a:solidFill>
              <a:srgbClr val="0B14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Box 24"/>
          <p:cNvSpPr txBox="1"/>
          <p:nvPr/>
        </p:nvSpPr>
        <p:spPr>
          <a:xfrm>
            <a:off x="1143000" y="719757"/>
            <a:ext cx="32766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ESPECIALIZAÇÃO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" y="1474241"/>
            <a:ext cx="4214098" cy="147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Herança e </a:t>
            </a:r>
            <a:r>
              <a:rPr lang="en-US" sz="60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sobrescrita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31103" y="3669032"/>
            <a:ext cx="5225785" cy="96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4"/>
              </a:lnSpc>
            </a:pPr>
            <a:r>
              <a:rPr lang="en-US" sz="2881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Veiculo</a:t>
            </a:r>
          </a:p>
          <a:p>
            <a:pPr algn="ctr">
              <a:lnSpc>
                <a:spcPts val="2241"/>
              </a:lnSpc>
            </a:pPr>
            <a:r>
              <a:rPr lang="en-US" sz="1600">
                <a:solidFill>
                  <a:srgbClr val="6B6F7A"/>
                </a:solidFill>
                <a:latin typeface="Inter"/>
                <a:ea typeface="Inter"/>
                <a:cs typeface="Inter"/>
                <a:sym typeface="Inter"/>
              </a:rPr>
              <a:t>Reutiliza estrutura e força subclasses a implementar.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05050" y="5796696"/>
            <a:ext cx="1182853" cy="51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Carro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96550" y="5796696"/>
            <a:ext cx="1091670" cy="51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B7431A"/>
                </a:solidFill>
                <a:latin typeface="Inter"/>
                <a:ea typeface="Inter"/>
                <a:cs typeface="Inter"/>
                <a:sym typeface="Inter"/>
              </a:rPr>
              <a:t>Moto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05050" y="6668119"/>
            <a:ext cx="2728208" cy="36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TAXA_SEGURO</a:t>
            </a:r>
            <a:r>
              <a:rPr lang="en-US" sz="1950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0.05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05050" y="7458694"/>
            <a:ext cx="4849987" cy="33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getValor() * TAXA_SEGURO;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22982" y="7902578"/>
            <a:ext cx="75781" cy="16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73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96550" y="6668119"/>
            <a:ext cx="2728198" cy="36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B743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TAXA_SEGURO</a:t>
            </a:r>
            <a:r>
              <a:rPr lang="en-US" sz="1950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0.08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96550" y="7458694"/>
            <a:ext cx="4849978" cy="33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getValor() * TAXA_SEGURO;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14482" y="7902578"/>
            <a:ext cx="75781" cy="16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73">
                <a:solidFill>
                  <a:srgbClr val="B743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32281" y="9237231"/>
            <a:ext cx="6755797" cy="26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B7431A"/>
                </a:solidFill>
                <a:latin typeface="Inter"/>
                <a:ea typeface="Inter"/>
                <a:cs typeface="Inter"/>
                <a:sym typeface="Inter"/>
              </a:rPr>
              <a:t>extends</a:t>
            </a:r>
            <a:r>
              <a:rPr lang="en-US" sz="165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reusa a estrutura. </a:t>
            </a:r>
            <a:r>
              <a:rPr lang="en-US" sz="165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@Override</a:t>
            </a:r>
            <a:r>
              <a:rPr lang="en-US" sz="165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substitui o cálculo abstrato.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8750" y="9658350"/>
            <a:ext cx="91447" cy="20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29918" y="9658350"/>
            <a:ext cx="1722882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HERANÇA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497" y="5746747"/>
            <a:ext cx="3746497" cy="2793997"/>
            <a:chOff x="0" y="0"/>
            <a:chExt cx="3746500" cy="279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0" y="0"/>
                  </a:moveTo>
                  <a:lnTo>
                    <a:pt x="3619500" y="0"/>
                  </a:lnTo>
                  <a:lnTo>
                    <a:pt x="3619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35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4826" y="0"/>
                  </a:moveTo>
                  <a:lnTo>
                    <a:pt x="3614674" y="0"/>
                  </a:lnTo>
                  <a:lnTo>
                    <a:pt x="3619500" y="0"/>
                  </a:lnTo>
                  <a:lnTo>
                    <a:pt x="3619500" y="4826"/>
                  </a:lnTo>
                  <a:lnTo>
                    <a:pt x="3619500" y="2662174"/>
                  </a:lnTo>
                  <a:lnTo>
                    <a:pt x="3619500" y="2667000"/>
                  </a:lnTo>
                  <a:lnTo>
                    <a:pt x="3614674" y="2667000"/>
                  </a:lnTo>
                  <a:lnTo>
                    <a:pt x="4826" y="2667000"/>
                  </a:lnTo>
                  <a:lnTo>
                    <a:pt x="0" y="2667000"/>
                  </a:lnTo>
                  <a:lnTo>
                    <a:pt x="0" y="26621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2662174"/>
                  </a:lnTo>
                  <a:lnTo>
                    <a:pt x="4826" y="2662174"/>
                  </a:lnTo>
                  <a:lnTo>
                    <a:pt x="4826" y="2657348"/>
                  </a:lnTo>
                  <a:lnTo>
                    <a:pt x="3614674" y="2657348"/>
                  </a:lnTo>
                  <a:lnTo>
                    <a:pt x="3614674" y="2662174"/>
                  </a:lnTo>
                  <a:lnTo>
                    <a:pt x="3609848" y="2662174"/>
                  </a:lnTo>
                  <a:lnTo>
                    <a:pt x="3609848" y="4826"/>
                  </a:lnTo>
                  <a:lnTo>
                    <a:pt x="3614674" y="4826"/>
                  </a:lnTo>
                  <a:lnTo>
                    <a:pt x="3614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3619500" cy="457200"/>
            </a:xfrm>
            <a:custGeom>
              <a:avLst/>
              <a:gdLst/>
              <a:ahLst/>
              <a:cxnLst/>
              <a:rect l="l" t="t" r="r" b="b"/>
              <a:pathLst>
                <a:path w="3619500" h="457200">
                  <a:moveTo>
                    <a:pt x="0" y="0"/>
                  </a:moveTo>
                  <a:lnTo>
                    <a:pt x="3619500" y="0"/>
                  </a:lnTo>
                  <a:lnTo>
                    <a:pt x="36195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1066800"/>
            <a:ext cx="571500" cy="19050"/>
            <a:chOff x="0" y="0"/>
            <a:chExt cx="571500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79997" y="5746747"/>
            <a:ext cx="3746497" cy="2793997"/>
            <a:chOff x="0" y="0"/>
            <a:chExt cx="3746500" cy="2794000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0" y="0"/>
                  </a:moveTo>
                  <a:lnTo>
                    <a:pt x="3619500" y="0"/>
                  </a:lnTo>
                  <a:lnTo>
                    <a:pt x="3619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4826" y="0"/>
                  </a:moveTo>
                  <a:lnTo>
                    <a:pt x="3614674" y="0"/>
                  </a:lnTo>
                  <a:lnTo>
                    <a:pt x="3619500" y="0"/>
                  </a:lnTo>
                  <a:lnTo>
                    <a:pt x="3619500" y="4826"/>
                  </a:lnTo>
                  <a:lnTo>
                    <a:pt x="3619500" y="2662174"/>
                  </a:lnTo>
                  <a:lnTo>
                    <a:pt x="3619500" y="2667000"/>
                  </a:lnTo>
                  <a:lnTo>
                    <a:pt x="3614674" y="2667000"/>
                  </a:lnTo>
                  <a:lnTo>
                    <a:pt x="4826" y="2667000"/>
                  </a:lnTo>
                  <a:lnTo>
                    <a:pt x="0" y="2667000"/>
                  </a:lnTo>
                  <a:lnTo>
                    <a:pt x="0" y="26621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2662174"/>
                  </a:lnTo>
                  <a:lnTo>
                    <a:pt x="4826" y="2662174"/>
                  </a:lnTo>
                  <a:lnTo>
                    <a:pt x="4826" y="2657348"/>
                  </a:lnTo>
                  <a:lnTo>
                    <a:pt x="3614674" y="2657348"/>
                  </a:lnTo>
                  <a:lnTo>
                    <a:pt x="3614674" y="2662174"/>
                  </a:lnTo>
                  <a:lnTo>
                    <a:pt x="3609848" y="2662174"/>
                  </a:lnTo>
                  <a:lnTo>
                    <a:pt x="3609848" y="4826"/>
                  </a:lnTo>
                  <a:lnTo>
                    <a:pt x="3614674" y="4826"/>
                  </a:lnTo>
                  <a:lnTo>
                    <a:pt x="3614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3500" y="63500"/>
              <a:ext cx="3619500" cy="457200"/>
            </a:xfrm>
            <a:custGeom>
              <a:avLst/>
              <a:gdLst/>
              <a:ahLst/>
              <a:cxnLst/>
              <a:rect l="l" t="t" r="r" b="b"/>
              <a:pathLst>
                <a:path w="3619500" h="457200">
                  <a:moveTo>
                    <a:pt x="0" y="0"/>
                  </a:moveTo>
                  <a:lnTo>
                    <a:pt x="3619500" y="0"/>
                  </a:lnTo>
                  <a:lnTo>
                    <a:pt x="36195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80497" y="5746747"/>
            <a:ext cx="3746497" cy="2793997"/>
            <a:chOff x="0" y="0"/>
            <a:chExt cx="3746500" cy="2794000"/>
          </a:xfrm>
        </p:grpSpPr>
        <p:sp>
          <p:nvSpPr>
            <p:cNvPr id="13" name="Freeform 13"/>
            <p:cNvSpPr/>
            <p:nvPr/>
          </p:nvSpPr>
          <p:spPr>
            <a:xfrm>
              <a:off x="63500" y="635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0" y="0"/>
                  </a:moveTo>
                  <a:lnTo>
                    <a:pt x="3619500" y="0"/>
                  </a:lnTo>
                  <a:lnTo>
                    <a:pt x="3619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35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4826" y="0"/>
                  </a:moveTo>
                  <a:lnTo>
                    <a:pt x="3614674" y="0"/>
                  </a:lnTo>
                  <a:lnTo>
                    <a:pt x="3619500" y="0"/>
                  </a:lnTo>
                  <a:lnTo>
                    <a:pt x="3619500" y="4826"/>
                  </a:lnTo>
                  <a:lnTo>
                    <a:pt x="3619500" y="2662174"/>
                  </a:lnTo>
                  <a:lnTo>
                    <a:pt x="3619500" y="2667000"/>
                  </a:lnTo>
                  <a:lnTo>
                    <a:pt x="3614674" y="2667000"/>
                  </a:lnTo>
                  <a:lnTo>
                    <a:pt x="4826" y="2667000"/>
                  </a:lnTo>
                  <a:lnTo>
                    <a:pt x="0" y="2667000"/>
                  </a:lnTo>
                  <a:lnTo>
                    <a:pt x="0" y="26621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2662174"/>
                  </a:lnTo>
                  <a:lnTo>
                    <a:pt x="4826" y="2662174"/>
                  </a:lnTo>
                  <a:lnTo>
                    <a:pt x="4826" y="2657348"/>
                  </a:lnTo>
                  <a:lnTo>
                    <a:pt x="3614674" y="2657348"/>
                  </a:lnTo>
                  <a:lnTo>
                    <a:pt x="3614674" y="2662174"/>
                  </a:lnTo>
                  <a:lnTo>
                    <a:pt x="3609848" y="2662174"/>
                  </a:lnTo>
                  <a:lnTo>
                    <a:pt x="3609848" y="4826"/>
                  </a:lnTo>
                  <a:lnTo>
                    <a:pt x="3614674" y="4826"/>
                  </a:lnTo>
                  <a:lnTo>
                    <a:pt x="3614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0" y="63500"/>
              <a:ext cx="3619500" cy="457200"/>
            </a:xfrm>
            <a:custGeom>
              <a:avLst/>
              <a:gdLst/>
              <a:ahLst/>
              <a:cxnLst/>
              <a:rect l="l" t="t" r="r" b="b"/>
              <a:pathLst>
                <a:path w="3619500" h="457200">
                  <a:moveTo>
                    <a:pt x="0" y="0"/>
                  </a:moveTo>
                  <a:lnTo>
                    <a:pt x="3619500" y="0"/>
                  </a:lnTo>
                  <a:lnTo>
                    <a:pt x="36195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9497" y="8699497"/>
            <a:ext cx="16128997" cy="698497"/>
            <a:chOff x="0" y="0"/>
            <a:chExt cx="16129000" cy="698500"/>
          </a:xfrm>
        </p:grpSpPr>
        <p:sp>
          <p:nvSpPr>
            <p:cNvPr id="17" name="Freeform 17"/>
            <p:cNvSpPr/>
            <p:nvPr/>
          </p:nvSpPr>
          <p:spPr>
            <a:xfrm>
              <a:off x="63500" y="63500"/>
              <a:ext cx="16002000" cy="571500"/>
            </a:xfrm>
            <a:custGeom>
              <a:avLst/>
              <a:gdLst/>
              <a:ahLst/>
              <a:cxnLst/>
              <a:rect l="l" t="t" r="r" b="b"/>
              <a:pathLst>
                <a:path w="16002000" h="571500">
                  <a:moveTo>
                    <a:pt x="0" y="0"/>
                  </a:moveTo>
                  <a:lnTo>
                    <a:pt x="16002000" y="0"/>
                  </a:lnTo>
                  <a:lnTo>
                    <a:pt x="1600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3500" y="63500"/>
              <a:ext cx="16002000" cy="571500"/>
            </a:xfrm>
            <a:custGeom>
              <a:avLst/>
              <a:gdLst/>
              <a:ahLst/>
              <a:cxnLst/>
              <a:rect l="l" t="t" r="r" b="b"/>
              <a:pathLst>
                <a:path w="16002000" h="571500">
                  <a:moveTo>
                    <a:pt x="4826" y="0"/>
                  </a:moveTo>
                  <a:lnTo>
                    <a:pt x="15997174" y="0"/>
                  </a:lnTo>
                  <a:lnTo>
                    <a:pt x="16002000" y="0"/>
                  </a:lnTo>
                  <a:lnTo>
                    <a:pt x="16002000" y="4826"/>
                  </a:lnTo>
                  <a:lnTo>
                    <a:pt x="16002000" y="566674"/>
                  </a:lnTo>
                  <a:lnTo>
                    <a:pt x="16002000" y="571500"/>
                  </a:lnTo>
                  <a:lnTo>
                    <a:pt x="15997174" y="571500"/>
                  </a:lnTo>
                  <a:lnTo>
                    <a:pt x="4826" y="571500"/>
                  </a:lnTo>
                  <a:lnTo>
                    <a:pt x="0" y="571500"/>
                  </a:lnTo>
                  <a:lnTo>
                    <a:pt x="0" y="566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566674"/>
                  </a:lnTo>
                  <a:lnTo>
                    <a:pt x="4826" y="566674"/>
                  </a:lnTo>
                  <a:lnTo>
                    <a:pt x="4826" y="561848"/>
                  </a:lnTo>
                  <a:lnTo>
                    <a:pt x="15997174" y="561848"/>
                  </a:lnTo>
                  <a:lnTo>
                    <a:pt x="15997174" y="566674"/>
                  </a:lnTo>
                  <a:lnTo>
                    <a:pt x="15992348" y="566674"/>
                  </a:lnTo>
                  <a:lnTo>
                    <a:pt x="15992348" y="4826"/>
                  </a:lnTo>
                  <a:lnTo>
                    <a:pt x="15997174" y="4826"/>
                  </a:lnTo>
                  <a:lnTo>
                    <a:pt x="159971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DCD5C2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79497" y="3555997"/>
            <a:ext cx="16128997" cy="1460497"/>
            <a:chOff x="0" y="0"/>
            <a:chExt cx="16129000" cy="1460500"/>
          </a:xfrm>
        </p:grpSpPr>
        <p:sp>
          <p:nvSpPr>
            <p:cNvPr id="20" name="Freeform 20"/>
            <p:cNvSpPr/>
            <p:nvPr/>
          </p:nvSpPr>
          <p:spPr>
            <a:xfrm>
              <a:off x="63500" y="63500"/>
              <a:ext cx="16002000" cy="1333500"/>
            </a:xfrm>
            <a:custGeom>
              <a:avLst/>
              <a:gdLst/>
              <a:ahLst/>
              <a:cxnLst/>
              <a:rect l="l" t="t" r="r" b="b"/>
              <a:pathLst>
                <a:path w="16002000" h="1333500">
                  <a:moveTo>
                    <a:pt x="0" y="0"/>
                  </a:moveTo>
                  <a:lnTo>
                    <a:pt x="16002000" y="0"/>
                  </a:lnTo>
                  <a:lnTo>
                    <a:pt x="16002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3500" y="63500"/>
              <a:ext cx="16002000" cy="1333500"/>
            </a:xfrm>
            <a:custGeom>
              <a:avLst/>
              <a:gdLst/>
              <a:ahLst/>
              <a:cxnLst/>
              <a:rect l="l" t="t" r="r" b="b"/>
              <a:pathLst>
                <a:path w="16002000" h="1333500">
                  <a:moveTo>
                    <a:pt x="4826" y="0"/>
                  </a:moveTo>
                  <a:lnTo>
                    <a:pt x="15997174" y="0"/>
                  </a:lnTo>
                  <a:lnTo>
                    <a:pt x="16002000" y="0"/>
                  </a:lnTo>
                  <a:lnTo>
                    <a:pt x="16002000" y="4826"/>
                  </a:lnTo>
                  <a:lnTo>
                    <a:pt x="16002000" y="1328674"/>
                  </a:lnTo>
                  <a:lnTo>
                    <a:pt x="16002000" y="1333500"/>
                  </a:lnTo>
                  <a:lnTo>
                    <a:pt x="15997174" y="1333500"/>
                  </a:lnTo>
                  <a:lnTo>
                    <a:pt x="4826" y="1333500"/>
                  </a:lnTo>
                  <a:lnTo>
                    <a:pt x="0" y="1333500"/>
                  </a:lnTo>
                  <a:lnTo>
                    <a:pt x="0" y="1328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1328674"/>
                  </a:lnTo>
                  <a:lnTo>
                    <a:pt x="4826" y="1328674"/>
                  </a:lnTo>
                  <a:lnTo>
                    <a:pt x="4826" y="1323848"/>
                  </a:lnTo>
                  <a:lnTo>
                    <a:pt x="15997174" y="1323848"/>
                  </a:lnTo>
                  <a:lnTo>
                    <a:pt x="15997174" y="1328674"/>
                  </a:lnTo>
                  <a:lnTo>
                    <a:pt x="15992348" y="1328674"/>
                  </a:lnTo>
                  <a:lnTo>
                    <a:pt x="15992348" y="4826"/>
                  </a:lnTo>
                  <a:lnTo>
                    <a:pt x="15997174" y="4826"/>
                  </a:lnTo>
                  <a:lnTo>
                    <a:pt x="159971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DCD5C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4500" y="349250"/>
              <a:ext cx="3619500" cy="762000"/>
            </a:xfrm>
            <a:custGeom>
              <a:avLst/>
              <a:gdLst/>
              <a:ahLst/>
              <a:cxnLst/>
              <a:rect l="l" t="t" r="r" b="b"/>
              <a:pathLst>
                <a:path w="3619500" h="762000">
                  <a:moveTo>
                    <a:pt x="0" y="0"/>
                  </a:moveTo>
                  <a:lnTo>
                    <a:pt x="3619500" y="0"/>
                  </a:lnTo>
                  <a:lnTo>
                    <a:pt x="36195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064000" y="711200"/>
              <a:ext cx="1619250" cy="19050"/>
            </a:xfrm>
            <a:custGeom>
              <a:avLst/>
              <a:gdLst/>
              <a:ahLst/>
              <a:cxnLst/>
              <a:rect l="l" t="t" r="r" b="b"/>
              <a:pathLst>
                <a:path w="1619250" h="19050">
                  <a:moveTo>
                    <a:pt x="0" y="0"/>
                  </a:moveTo>
                  <a:lnTo>
                    <a:pt x="1619250" y="0"/>
                  </a:lnTo>
                  <a:lnTo>
                    <a:pt x="16192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980815" y="599440"/>
              <a:ext cx="242570" cy="242570"/>
            </a:xfrm>
            <a:custGeom>
              <a:avLst/>
              <a:gdLst/>
              <a:ahLst/>
              <a:cxnLst/>
              <a:rect l="l" t="t" r="r" b="b"/>
              <a:pathLst>
                <a:path w="242570" h="242570">
                  <a:moveTo>
                    <a:pt x="121285" y="0"/>
                  </a:moveTo>
                  <a:lnTo>
                    <a:pt x="242570" y="121285"/>
                  </a:lnTo>
                  <a:lnTo>
                    <a:pt x="121285" y="242570"/>
                  </a:lnTo>
                  <a:lnTo>
                    <a:pt x="0" y="121285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5683250" y="273050"/>
              <a:ext cx="4000500" cy="914400"/>
            </a:xfrm>
            <a:custGeom>
              <a:avLst/>
              <a:gdLst/>
              <a:ahLst/>
              <a:cxnLst/>
              <a:rect l="l" t="t" r="r" b="b"/>
              <a:pathLst>
                <a:path w="4000500" h="914400">
                  <a:moveTo>
                    <a:pt x="0" y="0"/>
                  </a:moveTo>
                  <a:lnTo>
                    <a:pt x="4000500" y="0"/>
                  </a:lnTo>
                  <a:lnTo>
                    <a:pt x="40005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9683750" y="711200"/>
              <a:ext cx="1619250" cy="19050"/>
            </a:xfrm>
            <a:custGeom>
              <a:avLst/>
              <a:gdLst/>
              <a:ahLst/>
              <a:cxnLst/>
              <a:rect l="l" t="t" r="r" b="b"/>
              <a:pathLst>
                <a:path w="1619250" h="19050">
                  <a:moveTo>
                    <a:pt x="0" y="0"/>
                  </a:moveTo>
                  <a:lnTo>
                    <a:pt x="1619250" y="0"/>
                  </a:lnTo>
                  <a:lnTo>
                    <a:pt x="16192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9600565" y="599440"/>
              <a:ext cx="242570" cy="242570"/>
            </a:xfrm>
            <a:custGeom>
              <a:avLst/>
              <a:gdLst/>
              <a:ahLst/>
              <a:cxnLst/>
              <a:rect l="l" t="t" r="r" b="b"/>
              <a:pathLst>
                <a:path w="242570" h="242570">
                  <a:moveTo>
                    <a:pt x="121285" y="0"/>
                  </a:moveTo>
                  <a:lnTo>
                    <a:pt x="242570" y="121285"/>
                  </a:lnTo>
                  <a:lnTo>
                    <a:pt x="121285" y="242570"/>
                  </a:lnTo>
                  <a:lnTo>
                    <a:pt x="0" y="121285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1303000" y="273050"/>
              <a:ext cx="4572000" cy="914400"/>
            </a:xfrm>
            <a:custGeom>
              <a:avLst/>
              <a:gdLst/>
              <a:ahLst/>
              <a:cxnLst/>
              <a:rect l="l" t="t" r="r" b="b"/>
              <a:pathLst>
                <a:path w="4572000" h="9144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080997" y="5746747"/>
            <a:ext cx="3746497" cy="2793997"/>
            <a:chOff x="0" y="0"/>
            <a:chExt cx="3746500" cy="2794000"/>
          </a:xfrm>
        </p:grpSpPr>
        <p:sp>
          <p:nvSpPr>
            <p:cNvPr id="30" name="Freeform 30"/>
            <p:cNvSpPr/>
            <p:nvPr/>
          </p:nvSpPr>
          <p:spPr>
            <a:xfrm>
              <a:off x="63500" y="635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0" y="0"/>
                  </a:moveTo>
                  <a:lnTo>
                    <a:pt x="3619500" y="0"/>
                  </a:lnTo>
                  <a:lnTo>
                    <a:pt x="3619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63500" y="635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4826" y="0"/>
                  </a:moveTo>
                  <a:lnTo>
                    <a:pt x="3614674" y="0"/>
                  </a:lnTo>
                  <a:lnTo>
                    <a:pt x="3619500" y="0"/>
                  </a:lnTo>
                  <a:lnTo>
                    <a:pt x="3619500" y="4826"/>
                  </a:lnTo>
                  <a:lnTo>
                    <a:pt x="3619500" y="2662174"/>
                  </a:lnTo>
                  <a:lnTo>
                    <a:pt x="3619500" y="2667000"/>
                  </a:lnTo>
                  <a:lnTo>
                    <a:pt x="3614674" y="2667000"/>
                  </a:lnTo>
                  <a:lnTo>
                    <a:pt x="4826" y="2667000"/>
                  </a:lnTo>
                  <a:lnTo>
                    <a:pt x="0" y="2667000"/>
                  </a:lnTo>
                  <a:lnTo>
                    <a:pt x="0" y="26621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2662174"/>
                  </a:lnTo>
                  <a:lnTo>
                    <a:pt x="4826" y="2662174"/>
                  </a:lnTo>
                  <a:lnTo>
                    <a:pt x="4826" y="2657348"/>
                  </a:lnTo>
                  <a:lnTo>
                    <a:pt x="3614674" y="2657348"/>
                  </a:lnTo>
                  <a:lnTo>
                    <a:pt x="3614674" y="2662174"/>
                  </a:lnTo>
                  <a:lnTo>
                    <a:pt x="3609848" y="2662174"/>
                  </a:lnTo>
                  <a:lnTo>
                    <a:pt x="3609848" y="4826"/>
                  </a:lnTo>
                  <a:lnTo>
                    <a:pt x="3614674" y="4826"/>
                  </a:lnTo>
                  <a:lnTo>
                    <a:pt x="3614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3500" y="63500"/>
              <a:ext cx="3619500" cy="457200"/>
            </a:xfrm>
            <a:custGeom>
              <a:avLst/>
              <a:gdLst/>
              <a:ahLst/>
              <a:cxnLst/>
              <a:rect l="l" t="t" r="r" b="b"/>
              <a:pathLst>
                <a:path w="3619500" h="457200">
                  <a:moveTo>
                    <a:pt x="0" y="0"/>
                  </a:moveTo>
                  <a:lnTo>
                    <a:pt x="3619500" y="0"/>
                  </a:lnTo>
                  <a:lnTo>
                    <a:pt x="36195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7431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43000" y="719090"/>
            <a:ext cx="34290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DESPACHO DINÂMICO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3000" y="1474241"/>
            <a:ext cx="4946418" cy="147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Polimorfismo </a:t>
            </a:r>
            <a:r>
              <a:rPr lang="en-US" sz="60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em execução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19325" y="4083606"/>
            <a:ext cx="2273427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List&lt;Veiculo&gt;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5231" y="4091083"/>
            <a:ext cx="2443201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RelatorioSeguro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113991" y="4039362"/>
            <a:ext cx="3171149" cy="41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calcularSeguro( 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640511" y="5887717"/>
            <a:ext cx="636727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Carro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65719" y="5887717"/>
            <a:ext cx="586349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Moto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41511" y="5887717"/>
            <a:ext cx="636727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Carro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666719" y="5887717"/>
            <a:ext cx="586349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Moto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28750" y="6229436"/>
            <a:ext cx="2715195" cy="124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E1A2E"/>
                </a:solidFill>
                <a:latin typeface="Fraunces"/>
                <a:ea typeface="Fraunces"/>
                <a:cs typeface="Fraunces"/>
                <a:sym typeface="Fraunces"/>
              </a:rPr>
              <a:t>Honda Civic</a:t>
            </a:r>
          </a:p>
          <a:p>
            <a:pPr algn="l">
              <a:lnSpc>
                <a:spcPts val="2749"/>
              </a:lnSpc>
            </a:pPr>
            <a:r>
              <a:rPr lang="en-US" sz="1099" spc="307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CHAMADA → 5%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28750" y="7464352"/>
            <a:ext cx="2179853" cy="40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E40AF"/>
                </a:solidFill>
                <a:latin typeface="Fraunces"/>
                <a:ea typeface="Fraunces"/>
                <a:cs typeface="Fraunces"/>
                <a:sym typeface="Fraunces"/>
              </a:rPr>
              <a:t>R$ 7.500,00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29250" y="6229436"/>
            <a:ext cx="2805537" cy="124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E1A2E"/>
                </a:solidFill>
                <a:latin typeface="Fraunces"/>
                <a:ea typeface="Fraunces"/>
                <a:cs typeface="Fraunces"/>
                <a:sym typeface="Fraunces"/>
              </a:rPr>
              <a:t>Honda CB 500</a:t>
            </a:r>
          </a:p>
          <a:p>
            <a:pPr algn="l">
              <a:lnSpc>
                <a:spcPts val="2749"/>
              </a:lnSpc>
            </a:pPr>
            <a:r>
              <a:rPr lang="en-US" sz="1099" spc="307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CHAMADA → 8%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29250" y="7464352"/>
            <a:ext cx="2169890" cy="40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B7431A"/>
                </a:solidFill>
                <a:latin typeface="Fraunces"/>
                <a:ea typeface="Fraunces"/>
                <a:cs typeface="Fraunces"/>
                <a:sym typeface="Fraunces"/>
              </a:rPr>
              <a:t>R$ 3.360,00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29750" y="6229436"/>
            <a:ext cx="3091604" cy="124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E1A2E"/>
                </a:solidFill>
                <a:latin typeface="Fraunces"/>
                <a:ea typeface="Fraunces"/>
                <a:cs typeface="Fraunces"/>
                <a:sym typeface="Fraunces"/>
              </a:rPr>
              <a:t>Toyota Corolla</a:t>
            </a:r>
          </a:p>
          <a:p>
            <a:pPr algn="l">
              <a:lnSpc>
                <a:spcPts val="2749"/>
              </a:lnSpc>
            </a:pPr>
            <a:r>
              <a:rPr lang="en-US" sz="1099" spc="307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CHAMADA → 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29750" y="7464352"/>
            <a:ext cx="2158517" cy="40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E40AF"/>
                </a:solidFill>
                <a:latin typeface="Fraunces"/>
                <a:ea typeface="Fraunces"/>
                <a:cs typeface="Fraunces"/>
                <a:sym typeface="Fraunces"/>
              </a:rPr>
              <a:t>R$ 7.250,00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430250" y="6229436"/>
            <a:ext cx="3142324" cy="124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E1A2E"/>
                </a:solidFill>
                <a:latin typeface="Fraunces"/>
                <a:ea typeface="Fraunces"/>
                <a:cs typeface="Fraunces"/>
                <a:sym typeface="Fraunces"/>
              </a:rPr>
              <a:t>Yamaha MT-03</a:t>
            </a:r>
          </a:p>
          <a:p>
            <a:pPr algn="l">
              <a:lnSpc>
                <a:spcPts val="2749"/>
              </a:lnSpc>
            </a:pPr>
            <a:r>
              <a:rPr lang="en-US" sz="1099" spc="307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CHAMADA → 8%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430250" y="7464352"/>
            <a:ext cx="2192617" cy="40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B7431A"/>
                </a:solidFill>
                <a:latin typeface="Fraunces"/>
                <a:ea typeface="Fraunces"/>
                <a:cs typeface="Fraunces"/>
                <a:sym typeface="Fraunces"/>
              </a:rPr>
              <a:t>R$ 2.560,00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9497" y="9807569"/>
            <a:ext cx="91447" cy="20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80665" y="9807569"/>
            <a:ext cx="2327938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POLIMORFISMO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25994" y="8902694"/>
            <a:ext cx="8509006" cy="306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1800" dirty="0" err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mesmo</a:t>
            </a:r>
            <a:r>
              <a:rPr lang="en-US" sz="1800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r>
              <a:rPr lang="en-US" sz="1800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chama </a:t>
            </a:r>
            <a:r>
              <a:rPr lang="en-US" sz="1800" dirty="0" err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implementações</a:t>
            </a:r>
            <a:r>
              <a:rPr lang="en-US" sz="1800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diferentes</a:t>
            </a:r>
            <a:r>
              <a:rPr lang="en-US" sz="1800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conforme</a:t>
            </a:r>
            <a:r>
              <a:rPr lang="en-US" sz="1800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800" dirty="0" err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objeto</a:t>
            </a:r>
            <a:r>
              <a:rPr lang="en-US" sz="1800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33350" cy="10287000"/>
            <a:chOff x="0" y="0"/>
            <a:chExt cx="13335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50" cy="10287000"/>
            </a:xfrm>
            <a:custGeom>
              <a:avLst/>
              <a:gdLst/>
              <a:ahLst/>
              <a:cxnLst/>
              <a:rect l="l" t="t" r="r" b="b"/>
              <a:pathLst>
                <a:path w="133350" h="10287000">
                  <a:moveTo>
                    <a:pt x="0" y="0"/>
                  </a:moveTo>
                  <a:lnTo>
                    <a:pt x="133350" y="0"/>
                  </a:lnTo>
                  <a:lnTo>
                    <a:pt x="1333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3000" y="1066800"/>
            <a:ext cx="571500" cy="19050"/>
            <a:chOff x="0" y="0"/>
            <a:chExt cx="5715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9497" y="3367964"/>
            <a:ext cx="6307314" cy="4315530"/>
            <a:chOff x="0" y="0"/>
            <a:chExt cx="6032500" cy="4127500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5905500" cy="4000500"/>
            </a:xfrm>
            <a:custGeom>
              <a:avLst/>
              <a:gdLst/>
              <a:ahLst/>
              <a:cxnLst/>
              <a:rect l="l" t="t" r="r" b="b"/>
              <a:pathLst>
                <a:path w="5905500" h="4000500">
                  <a:moveTo>
                    <a:pt x="0" y="0"/>
                  </a:moveTo>
                  <a:lnTo>
                    <a:pt x="5905500" y="0"/>
                  </a:lnTo>
                  <a:lnTo>
                    <a:pt x="59055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63500"/>
              <a:ext cx="5905500" cy="4000500"/>
            </a:xfrm>
            <a:custGeom>
              <a:avLst/>
              <a:gdLst/>
              <a:ahLst/>
              <a:cxnLst/>
              <a:rect l="l" t="t" r="r" b="b"/>
              <a:pathLst>
                <a:path w="5905500" h="4000500">
                  <a:moveTo>
                    <a:pt x="4826" y="0"/>
                  </a:moveTo>
                  <a:lnTo>
                    <a:pt x="5900674" y="0"/>
                  </a:lnTo>
                  <a:lnTo>
                    <a:pt x="5905500" y="0"/>
                  </a:lnTo>
                  <a:lnTo>
                    <a:pt x="5905500" y="4826"/>
                  </a:lnTo>
                  <a:lnTo>
                    <a:pt x="5905500" y="3995674"/>
                  </a:lnTo>
                  <a:lnTo>
                    <a:pt x="5905500" y="4000500"/>
                  </a:lnTo>
                  <a:lnTo>
                    <a:pt x="5900674" y="4000500"/>
                  </a:lnTo>
                  <a:lnTo>
                    <a:pt x="4826" y="4000500"/>
                  </a:lnTo>
                  <a:lnTo>
                    <a:pt x="0" y="4000500"/>
                  </a:lnTo>
                  <a:lnTo>
                    <a:pt x="0" y="3995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3995674"/>
                  </a:lnTo>
                  <a:lnTo>
                    <a:pt x="4826" y="3995674"/>
                  </a:lnTo>
                  <a:lnTo>
                    <a:pt x="4826" y="3990848"/>
                  </a:lnTo>
                  <a:lnTo>
                    <a:pt x="5900674" y="3990848"/>
                  </a:lnTo>
                  <a:lnTo>
                    <a:pt x="5900674" y="3995674"/>
                  </a:lnTo>
                  <a:lnTo>
                    <a:pt x="5895848" y="3995674"/>
                  </a:lnTo>
                  <a:lnTo>
                    <a:pt x="5895848" y="4826"/>
                  </a:lnTo>
                  <a:lnTo>
                    <a:pt x="5900674" y="4826"/>
                  </a:lnTo>
                  <a:lnTo>
                    <a:pt x="5900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500" y="63500"/>
              <a:ext cx="57150" cy="4000500"/>
            </a:xfrm>
            <a:custGeom>
              <a:avLst/>
              <a:gdLst/>
              <a:ahLst/>
              <a:cxnLst/>
              <a:rect l="l" t="t" r="r" b="b"/>
              <a:pathLst>
                <a:path w="57150" h="4000500">
                  <a:moveTo>
                    <a:pt x="0" y="0"/>
                  </a:moveTo>
                  <a:lnTo>
                    <a:pt x="57150" y="0"/>
                  </a:lnTo>
                  <a:lnTo>
                    <a:pt x="5715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44500" y="1397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44500" y="22542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44500" y="3111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44500" y="901700"/>
              <a:ext cx="457200" cy="19050"/>
            </a:xfrm>
            <a:custGeom>
              <a:avLst/>
              <a:gdLst/>
              <a:ahLst/>
              <a:cxnLst/>
              <a:rect l="l" t="t" r="r" b="b"/>
              <a:pathLst>
                <a:path w="457200" h="19050">
                  <a:moveTo>
                    <a:pt x="0" y="0"/>
                  </a:moveTo>
                  <a:lnTo>
                    <a:pt x="457200" y="0"/>
                  </a:lnTo>
                  <a:lnTo>
                    <a:pt x="457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9497" y="8032747"/>
            <a:ext cx="12318997" cy="1269997"/>
            <a:chOff x="0" y="0"/>
            <a:chExt cx="12319000" cy="1270000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12192000" cy="1143000"/>
            </a:xfrm>
            <a:custGeom>
              <a:avLst/>
              <a:gdLst/>
              <a:ahLst/>
              <a:cxnLst/>
              <a:rect l="l" t="t" r="r" b="b"/>
              <a:pathLst>
                <a:path w="12192000" h="1143000">
                  <a:moveTo>
                    <a:pt x="0" y="0"/>
                  </a:moveTo>
                  <a:lnTo>
                    <a:pt x="12192000" y="0"/>
                  </a:lnTo>
                  <a:lnTo>
                    <a:pt x="12192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63500"/>
              <a:ext cx="57150" cy="1143000"/>
            </a:xfrm>
            <a:custGeom>
              <a:avLst/>
              <a:gdLst/>
              <a:ahLst/>
              <a:cxnLst/>
              <a:rect l="l" t="t" r="r" b="b"/>
              <a:pathLst>
                <a:path w="57150" h="1143000">
                  <a:moveTo>
                    <a:pt x="0" y="0"/>
                  </a:moveTo>
                  <a:lnTo>
                    <a:pt x="57150" y="0"/>
                  </a:lnTo>
                  <a:lnTo>
                    <a:pt x="5715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52386" y="3367964"/>
            <a:ext cx="6307314" cy="4315530"/>
            <a:chOff x="0" y="0"/>
            <a:chExt cx="6032500" cy="4127500"/>
          </a:xfrm>
        </p:grpSpPr>
        <p:sp>
          <p:nvSpPr>
            <p:cNvPr id="18" name="Freeform 18"/>
            <p:cNvSpPr/>
            <p:nvPr/>
          </p:nvSpPr>
          <p:spPr>
            <a:xfrm>
              <a:off x="63500" y="63500"/>
              <a:ext cx="5905500" cy="4000500"/>
            </a:xfrm>
            <a:custGeom>
              <a:avLst/>
              <a:gdLst/>
              <a:ahLst/>
              <a:cxnLst/>
              <a:rect l="l" t="t" r="r" b="b"/>
              <a:pathLst>
                <a:path w="5905500" h="4000500">
                  <a:moveTo>
                    <a:pt x="0" y="0"/>
                  </a:moveTo>
                  <a:lnTo>
                    <a:pt x="5905500" y="0"/>
                  </a:lnTo>
                  <a:lnTo>
                    <a:pt x="59055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63500"/>
              <a:ext cx="5905500" cy="4000500"/>
            </a:xfrm>
            <a:custGeom>
              <a:avLst/>
              <a:gdLst/>
              <a:ahLst/>
              <a:cxnLst/>
              <a:rect l="l" t="t" r="r" b="b"/>
              <a:pathLst>
                <a:path w="5905500" h="4000500">
                  <a:moveTo>
                    <a:pt x="4826" y="0"/>
                  </a:moveTo>
                  <a:lnTo>
                    <a:pt x="5900674" y="0"/>
                  </a:lnTo>
                  <a:lnTo>
                    <a:pt x="5905500" y="0"/>
                  </a:lnTo>
                  <a:lnTo>
                    <a:pt x="5905500" y="4826"/>
                  </a:lnTo>
                  <a:lnTo>
                    <a:pt x="5905500" y="3995674"/>
                  </a:lnTo>
                  <a:lnTo>
                    <a:pt x="5905500" y="4000500"/>
                  </a:lnTo>
                  <a:lnTo>
                    <a:pt x="5900674" y="4000500"/>
                  </a:lnTo>
                  <a:lnTo>
                    <a:pt x="4826" y="4000500"/>
                  </a:lnTo>
                  <a:lnTo>
                    <a:pt x="0" y="4000500"/>
                  </a:lnTo>
                  <a:lnTo>
                    <a:pt x="0" y="39956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3995674"/>
                  </a:lnTo>
                  <a:lnTo>
                    <a:pt x="4826" y="3995674"/>
                  </a:lnTo>
                  <a:lnTo>
                    <a:pt x="4826" y="3990848"/>
                  </a:lnTo>
                  <a:lnTo>
                    <a:pt x="5900674" y="3990848"/>
                  </a:lnTo>
                  <a:lnTo>
                    <a:pt x="5900674" y="3995674"/>
                  </a:lnTo>
                  <a:lnTo>
                    <a:pt x="5895848" y="3995674"/>
                  </a:lnTo>
                  <a:lnTo>
                    <a:pt x="5895848" y="4826"/>
                  </a:lnTo>
                  <a:lnTo>
                    <a:pt x="5900674" y="4826"/>
                  </a:lnTo>
                  <a:lnTo>
                    <a:pt x="5900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3500" y="63500"/>
              <a:ext cx="57150" cy="4000500"/>
            </a:xfrm>
            <a:custGeom>
              <a:avLst/>
              <a:gdLst/>
              <a:ahLst/>
              <a:cxnLst/>
              <a:rect l="l" t="t" r="r" b="b"/>
              <a:pathLst>
                <a:path w="57150" h="4000500">
                  <a:moveTo>
                    <a:pt x="0" y="0"/>
                  </a:moveTo>
                  <a:lnTo>
                    <a:pt x="57150" y="0"/>
                  </a:lnTo>
                  <a:lnTo>
                    <a:pt x="5715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44500" y="1397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4500" y="22542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44500" y="28257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444500" y="33972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44500" y="901700"/>
              <a:ext cx="457200" cy="19050"/>
            </a:xfrm>
            <a:custGeom>
              <a:avLst/>
              <a:gdLst/>
              <a:ahLst/>
              <a:cxnLst/>
              <a:rect l="l" t="t" r="r" b="b"/>
              <a:pathLst>
                <a:path w="457200" h="19050">
                  <a:moveTo>
                    <a:pt x="0" y="0"/>
                  </a:moveTo>
                  <a:lnTo>
                    <a:pt x="457200" y="0"/>
                  </a:lnTo>
                  <a:lnTo>
                    <a:pt x="457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97000" y="0"/>
            <a:ext cx="4191000" cy="10287000"/>
            <a:chOff x="0" y="0"/>
            <a:chExt cx="4191000" cy="10287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191000" cy="10287000"/>
            </a:xfrm>
            <a:custGeom>
              <a:avLst/>
              <a:gdLst/>
              <a:ahLst/>
              <a:cxnLst/>
              <a:rect l="l" t="t" r="r" b="b"/>
              <a:pathLst>
                <a:path w="4191000" h="10287000">
                  <a:moveTo>
                    <a:pt x="0" y="0"/>
                  </a:moveTo>
                  <a:lnTo>
                    <a:pt x="4191000" y="0"/>
                  </a:lnTo>
                  <a:lnTo>
                    <a:pt x="4191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17139" y="5311539"/>
            <a:ext cx="77673" cy="78236"/>
            <a:chOff x="0" y="0"/>
            <a:chExt cx="20457" cy="206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457" cy="20605"/>
            </a:xfrm>
            <a:custGeom>
              <a:avLst/>
              <a:gdLst/>
              <a:ahLst/>
              <a:cxnLst/>
              <a:rect l="l" t="t" r="r" b="b"/>
              <a:pathLst>
                <a:path w="20457" h="20605">
                  <a:moveTo>
                    <a:pt x="0" y="0"/>
                  </a:moveTo>
                  <a:lnTo>
                    <a:pt x="20457" y="0"/>
                  </a:lnTo>
                  <a:lnTo>
                    <a:pt x="20457" y="20605"/>
                  </a:lnTo>
                  <a:lnTo>
                    <a:pt x="0" y="20605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0457" cy="58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4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8023165" y="6813203"/>
            <a:ext cx="332988" cy="396690"/>
          </a:xfrm>
          <a:custGeom>
            <a:avLst/>
            <a:gdLst/>
            <a:ahLst/>
            <a:cxnLst/>
            <a:rect l="l" t="t" r="r" b="b"/>
            <a:pathLst>
              <a:path w="332988" h="396690">
                <a:moveTo>
                  <a:pt x="0" y="0"/>
                </a:moveTo>
                <a:lnTo>
                  <a:pt x="332988" y="0"/>
                </a:lnTo>
                <a:lnTo>
                  <a:pt x="332988" y="396690"/>
                </a:lnTo>
                <a:lnTo>
                  <a:pt x="0" y="39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2" name="TextBox 32"/>
          <p:cNvSpPr txBox="1"/>
          <p:nvPr/>
        </p:nvSpPr>
        <p:spPr>
          <a:xfrm>
            <a:off x="1143000" y="746960"/>
            <a:ext cx="40386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CONTRATOS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000" y="1474241"/>
            <a:ext cx="6796678" cy="147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Separação de </a:t>
            </a:r>
            <a:r>
              <a:rPr lang="en-US" sz="60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responsabilidades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44250" y="3727754"/>
            <a:ext cx="3480853" cy="43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823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Classes do domínio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17139" y="3727754"/>
            <a:ext cx="2873826" cy="43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823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RelatorioSeguro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83264" y="5628383"/>
            <a:ext cx="3794220" cy="28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1882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Carro e Moto calculam o seguro.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83264" y="4732080"/>
            <a:ext cx="3935209" cy="28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1882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Veiculo guarda os dados comuns.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83264" y="6524686"/>
            <a:ext cx="3953025" cy="28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1882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As validações protegem o estado.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56153" y="4706450"/>
            <a:ext cx="3345431" cy="28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1882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Formata os valores em reais.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56153" y="5333694"/>
            <a:ext cx="2139652" cy="15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0"/>
              </a:lnSpc>
            </a:pPr>
            <a:r>
              <a:rPr lang="en-US" sz="188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Exibe cada veículo.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56152" y="5774728"/>
            <a:ext cx="3607247" cy="144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0"/>
              </a:lnSpc>
            </a:pPr>
            <a:r>
              <a:rPr lang="en-US" sz="1881" dirty="0" err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Calcula</a:t>
            </a:r>
            <a:r>
              <a:rPr lang="en-US" sz="1881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 o total dos </a:t>
            </a:r>
            <a:r>
              <a:rPr lang="en-US" sz="1881" dirty="0" err="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seguros</a:t>
            </a:r>
            <a:r>
              <a:rPr lang="en-US" sz="1881" dirty="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56153" y="6306201"/>
            <a:ext cx="3215018" cy="15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0"/>
              </a:lnSpc>
            </a:pPr>
            <a:r>
              <a:rPr lang="en-US" sz="1881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Rejeita listas vazias ou nulas.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428750" y="8455672"/>
            <a:ext cx="5254693" cy="424147"/>
            <a:chOff x="0" y="0"/>
            <a:chExt cx="7006257" cy="565529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57150"/>
              <a:ext cx="2133203" cy="622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spc="839">
                  <a:solidFill>
                    <a:srgbClr val="9DD0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TOTAL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35051" y="-57150"/>
              <a:ext cx="1279922" cy="622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spc="839">
                  <a:solidFill>
                    <a:srgbClr val="9DD0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DOS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19773" y="-57150"/>
              <a:ext cx="2986485" cy="622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spc="839">
                  <a:solidFill>
                    <a:srgbClr val="9DD0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SEGUROS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277198" y="8269948"/>
            <a:ext cx="3963286" cy="7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R$ 20.670,00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79497" y="9693269"/>
            <a:ext cx="91447" cy="20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80665" y="9693269"/>
            <a:ext cx="2757935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RESPONSABILIDADES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3274" y="4552274"/>
            <a:ext cx="134703" cy="134703"/>
            <a:chOff x="0" y="0"/>
            <a:chExt cx="134709" cy="134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625" cy="134625"/>
            </a:xfrm>
            <a:custGeom>
              <a:avLst/>
              <a:gdLst/>
              <a:ahLst/>
              <a:cxnLst/>
              <a:rect l="l" t="t" r="r" b="b"/>
              <a:pathLst>
                <a:path w="134625" h="134625">
                  <a:moveTo>
                    <a:pt x="67313" y="0"/>
                  </a:moveTo>
                  <a:lnTo>
                    <a:pt x="134625" y="67313"/>
                  </a:lnTo>
                  <a:lnTo>
                    <a:pt x="67313" y="134625"/>
                  </a:lnTo>
                  <a:lnTo>
                    <a:pt x="0" y="67313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23274" y="5219024"/>
            <a:ext cx="134703" cy="134703"/>
            <a:chOff x="0" y="0"/>
            <a:chExt cx="134709" cy="13470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625" cy="134625"/>
            </a:xfrm>
            <a:custGeom>
              <a:avLst/>
              <a:gdLst/>
              <a:ahLst/>
              <a:cxnLst/>
              <a:rect l="l" t="t" r="r" b="b"/>
              <a:pathLst>
                <a:path w="134625" h="134625">
                  <a:moveTo>
                    <a:pt x="67313" y="0"/>
                  </a:moveTo>
                  <a:lnTo>
                    <a:pt x="134625" y="67313"/>
                  </a:lnTo>
                  <a:lnTo>
                    <a:pt x="67313" y="134625"/>
                  </a:lnTo>
                  <a:lnTo>
                    <a:pt x="0" y="67313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3274" y="5885774"/>
            <a:ext cx="134703" cy="134703"/>
            <a:chOff x="0" y="0"/>
            <a:chExt cx="134709" cy="1347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625" cy="134625"/>
            </a:xfrm>
            <a:custGeom>
              <a:avLst/>
              <a:gdLst/>
              <a:ahLst/>
              <a:cxnLst/>
              <a:rect l="l" t="t" r="r" b="b"/>
              <a:pathLst>
                <a:path w="134625" h="134625">
                  <a:moveTo>
                    <a:pt x="67313" y="0"/>
                  </a:moveTo>
                  <a:lnTo>
                    <a:pt x="134625" y="67313"/>
                  </a:lnTo>
                  <a:lnTo>
                    <a:pt x="67313" y="134625"/>
                  </a:lnTo>
                  <a:lnTo>
                    <a:pt x="0" y="67313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3274" y="6552524"/>
            <a:ext cx="134703" cy="134703"/>
            <a:chOff x="0" y="0"/>
            <a:chExt cx="134709" cy="1347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625" cy="134625"/>
            </a:xfrm>
            <a:custGeom>
              <a:avLst/>
              <a:gdLst/>
              <a:ahLst/>
              <a:cxnLst/>
              <a:rect l="l" t="t" r="r" b="b"/>
              <a:pathLst>
                <a:path w="134625" h="134625">
                  <a:moveTo>
                    <a:pt x="67313" y="0"/>
                  </a:moveTo>
                  <a:lnTo>
                    <a:pt x="134625" y="67313"/>
                  </a:lnTo>
                  <a:lnTo>
                    <a:pt x="67313" y="134625"/>
                  </a:lnTo>
                  <a:lnTo>
                    <a:pt x="0" y="67313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1066800"/>
            <a:ext cx="571500" cy="19050"/>
            <a:chOff x="0" y="0"/>
            <a:chExt cx="571500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3000" y="4105275"/>
            <a:ext cx="571500" cy="19050"/>
            <a:chOff x="0" y="0"/>
            <a:chExt cx="571500" cy="19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9497" y="7461247"/>
            <a:ext cx="5460997" cy="1079497"/>
            <a:chOff x="0" y="0"/>
            <a:chExt cx="5461000" cy="1079500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0" y="0"/>
                  </a:moveTo>
                  <a:lnTo>
                    <a:pt x="5334000" y="0"/>
                  </a:lnTo>
                  <a:lnTo>
                    <a:pt x="53340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15803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63500"/>
              <a:ext cx="57150" cy="952500"/>
            </a:xfrm>
            <a:custGeom>
              <a:avLst/>
              <a:gdLst/>
              <a:ahLst/>
              <a:cxnLst/>
              <a:rect l="l" t="t" r="r" b="b"/>
              <a:pathLst>
                <a:path w="57150" h="952500">
                  <a:moveTo>
                    <a:pt x="0" y="0"/>
                  </a:moveTo>
                  <a:lnTo>
                    <a:pt x="57150" y="0"/>
                  </a:lnTo>
                  <a:lnTo>
                    <a:pt x="5715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23497" y="4032247"/>
            <a:ext cx="6794497" cy="3898897"/>
            <a:chOff x="0" y="0"/>
            <a:chExt cx="6794500" cy="3898900"/>
          </a:xfrm>
        </p:grpSpPr>
        <p:sp>
          <p:nvSpPr>
            <p:cNvPr id="18" name="Freeform 18"/>
            <p:cNvSpPr/>
            <p:nvPr/>
          </p:nvSpPr>
          <p:spPr>
            <a:xfrm>
              <a:off x="63500" y="63500"/>
              <a:ext cx="6667500" cy="914400"/>
            </a:xfrm>
            <a:custGeom>
              <a:avLst/>
              <a:gdLst/>
              <a:ahLst/>
              <a:cxnLst/>
              <a:rect l="l" t="t" r="r" b="b"/>
              <a:pathLst>
                <a:path w="6667500" h="914400">
                  <a:moveTo>
                    <a:pt x="0" y="0"/>
                  </a:moveTo>
                  <a:lnTo>
                    <a:pt x="6667500" y="0"/>
                  </a:lnTo>
                  <a:lnTo>
                    <a:pt x="66675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5803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3359150" y="977900"/>
              <a:ext cx="19050" cy="514350"/>
            </a:xfrm>
            <a:custGeom>
              <a:avLst/>
              <a:gdLst/>
              <a:ahLst/>
              <a:cxnLst/>
              <a:rect l="l" t="t" r="r" b="b"/>
              <a:pathLst>
                <a:path w="19050" h="514350">
                  <a:moveTo>
                    <a:pt x="0" y="0"/>
                  </a:moveTo>
                  <a:lnTo>
                    <a:pt x="19050" y="0"/>
                  </a:lnTo>
                  <a:lnTo>
                    <a:pt x="1905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247390" y="1380490"/>
              <a:ext cx="242570" cy="242570"/>
            </a:xfrm>
            <a:custGeom>
              <a:avLst/>
              <a:gdLst/>
              <a:ahLst/>
              <a:cxnLst/>
              <a:rect l="l" t="t" r="r" b="b"/>
              <a:pathLst>
                <a:path w="242570" h="242570">
                  <a:moveTo>
                    <a:pt x="121285" y="0"/>
                  </a:moveTo>
                  <a:lnTo>
                    <a:pt x="242570" y="121285"/>
                  </a:lnTo>
                  <a:lnTo>
                    <a:pt x="121285" y="242570"/>
                  </a:lnTo>
                  <a:lnTo>
                    <a:pt x="0" y="121285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3500" y="1492250"/>
              <a:ext cx="6667500" cy="914400"/>
            </a:xfrm>
            <a:custGeom>
              <a:avLst/>
              <a:gdLst/>
              <a:ahLst/>
              <a:cxnLst/>
              <a:rect l="l" t="t" r="r" b="b"/>
              <a:pathLst>
                <a:path w="6667500" h="914400">
                  <a:moveTo>
                    <a:pt x="0" y="0"/>
                  </a:moveTo>
                  <a:lnTo>
                    <a:pt x="6667500" y="0"/>
                  </a:lnTo>
                  <a:lnTo>
                    <a:pt x="66675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3359150" y="2406650"/>
              <a:ext cx="19050" cy="514350"/>
            </a:xfrm>
            <a:custGeom>
              <a:avLst/>
              <a:gdLst/>
              <a:ahLst/>
              <a:cxnLst/>
              <a:rect l="l" t="t" r="r" b="b"/>
              <a:pathLst>
                <a:path w="19050" h="514350">
                  <a:moveTo>
                    <a:pt x="0" y="0"/>
                  </a:moveTo>
                  <a:lnTo>
                    <a:pt x="19050" y="0"/>
                  </a:lnTo>
                  <a:lnTo>
                    <a:pt x="1905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247390" y="2809240"/>
              <a:ext cx="242570" cy="242570"/>
            </a:xfrm>
            <a:custGeom>
              <a:avLst/>
              <a:gdLst/>
              <a:ahLst/>
              <a:cxnLst/>
              <a:rect l="l" t="t" r="r" b="b"/>
              <a:pathLst>
                <a:path w="242570" h="242570">
                  <a:moveTo>
                    <a:pt x="121285" y="0"/>
                  </a:moveTo>
                  <a:lnTo>
                    <a:pt x="242570" y="121285"/>
                  </a:lnTo>
                  <a:lnTo>
                    <a:pt x="121285" y="242570"/>
                  </a:lnTo>
                  <a:lnTo>
                    <a:pt x="0" y="121285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63500" y="2921000"/>
              <a:ext cx="6667500" cy="914400"/>
            </a:xfrm>
            <a:custGeom>
              <a:avLst/>
              <a:gdLst/>
              <a:ahLst/>
              <a:cxnLst/>
              <a:rect l="l" t="t" r="r" b="b"/>
              <a:pathLst>
                <a:path w="6667500" h="914400">
                  <a:moveTo>
                    <a:pt x="0" y="0"/>
                  </a:moveTo>
                  <a:lnTo>
                    <a:pt x="6667500" y="0"/>
                  </a:lnTo>
                  <a:lnTo>
                    <a:pt x="66675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63500" y="2921000"/>
              <a:ext cx="6667500" cy="914527"/>
            </a:xfrm>
            <a:custGeom>
              <a:avLst/>
              <a:gdLst/>
              <a:ahLst/>
              <a:cxnLst/>
              <a:rect l="l" t="t" r="r" b="b"/>
              <a:pathLst>
                <a:path w="6667500" h="914527">
                  <a:moveTo>
                    <a:pt x="4826" y="0"/>
                  </a:moveTo>
                  <a:lnTo>
                    <a:pt x="6662674" y="0"/>
                  </a:lnTo>
                  <a:lnTo>
                    <a:pt x="6667500" y="0"/>
                  </a:lnTo>
                  <a:lnTo>
                    <a:pt x="6667500" y="4826"/>
                  </a:lnTo>
                  <a:lnTo>
                    <a:pt x="6667500" y="909701"/>
                  </a:lnTo>
                  <a:lnTo>
                    <a:pt x="6667500" y="914527"/>
                  </a:lnTo>
                  <a:lnTo>
                    <a:pt x="6662674" y="914527"/>
                  </a:lnTo>
                  <a:lnTo>
                    <a:pt x="4826" y="914527"/>
                  </a:lnTo>
                  <a:lnTo>
                    <a:pt x="0" y="914527"/>
                  </a:lnTo>
                  <a:lnTo>
                    <a:pt x="0" y="909701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699"/>
                  </a:lnTo>
                  <a:lnTo>
                    <a:pt x="9652" y="4699"/>
                  </a:lnTo>
                  <a:lnTo>
                    <a:pt x="9652" y="909574"/>
                  </a:lnTo>
                  <a:lnTo>
                    <a:pt x="4826" y="909574"/>
                  </a:lnTo>
                  <a:lnTo>
                    <a:pt x="4826" y="904748"/>
                  </a:lnTo>
                  <a:lnTo>
                    <a:pt x="6662674" y="904748"/>
                  </a:lnTo>
                  <a:lnTo>
                    <a:pt x="6662674" y="909574"/>
                  </a:lnTo>
                  <a:lnTo>
                    <a:pt x="6657848" y="909574"/>
                  </a:lnTo>
                  <a:lnTo>
                    <a:pt x="6657848" y="4826"/>
                  </a:lnTo>
                  <a:lnTo>
                    <a:pt x="6662674" y="4826"/>
                  </a:lnTo>
                  <a:lnTo>
                    <a:pt x="6662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87000" y="3595640"/>
            <a:ext cx="1280253" cy="240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42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56847" y="3595640"/>
            <a:ext cx="1280253" cy="240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42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CONTÍNUO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3000" y="719090"/>
            <a:ext cx="30480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· GARANTIA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3000" y="1474241"/>
            <a:ext cx="8469744" cy="147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Testes e</a:t>
            </a:r>
          </a:p>
          <a:p>
            <a:pPr algn="l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verificação automática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000" y="3614833"/>
            <a:ext cx="3582400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Seis verificações locais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6850" y="4443193"/>
            <a:ext cx="3286487" cy="30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Seguro do carro e da moto.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6850" y="5109943"/>
            <a:ext cx="3174330" cy="30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Modelo vazio e valor zero.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6850" y="5776693"/>
            <a:ext cx="2911669" cy="30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Soma total dos seguros.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66850" y="6443443"/>
            <a:ext cx="2998279" cy="30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Relatório com lista vazia.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59144" y="7779229"/>
            <a:ext cx="4789256" cy="405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Todos </a:t>
            </a:r>
            <a:r>
              <a:rPr lang="en-US" sz="24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testes </a:t>
            </a:r>
            <a:r>
              <a:rPr lang="en-US" sz="24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passaram</a:t>
            </a:r>
            <a:endParaRPr lang="en-US" sz="2400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574791" y="7231056"/>
            <a:ext cx="2133619" cy="34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Commit e push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67342" y="5802306"/>
            <a:ext cx="2148764" cy="34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GitHub Actions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34172" y="4373556"/>
            <a:ext cx="4460605" cy="34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Compilação e testes aprovados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7976" y="9626594"/>
            <a:ext cx="91447" cy="20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59144" y="9626594"/>
            <a:ext cx="1665056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33350" cy="10287000"/>
            <a:chOff x="0" y="0"/>
            <a:chExt cx="133350" cy="1028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50" cy="10287000"/>
            </a:xfrm>
            <a:custGeom>
              <a:avLst/>
              <a:gdLst/>
              <a:ahLst/>
              <a:cxnLst/>
              <a:rect l="l" t="t" r="r" b="b"/>
              <a:pathLst>
                <a:path w="133350" h="10287000">
                  <a:moveTo>
                    <a:pt x="0" y="0"/>
                  </a:moveTo>
                  <a:lnTo>
                    <a:pt x="133350" y="0"/>
                  </a:lnTo>
                  <a:lnTo>
                    <a:pt x="13335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3000" y="1066800"/>
            <a:ext cx="571500" cy="19050"/>
            <a:chOff x="0" y="0"/>
            <a:chExt cx="5715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9497" y="6127747"/>
            <a:ext cx="11366497" cy="2793997"/>
            <a:chOff x="0" y="0"/>
            <a:chExt cx="11366500" cy="2794000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11239500" cy="2667000"/>
            </a:xfrm>
            <a:custGeom>
              <a:avLst/>
              <a:gdLst/>
              <a:ahLst/>
              <a:cxnLst/>
              <a:rect l="l" t="t" r="r" b="b"/>
              <a:pathLst>
                <a:path w="11239500" h="2667000">
                  <a:moveTo>
                    <a:pt x="0" y="0"/>
                  </a:moveTo>
                  <a:lnTo>
                    <a:pt x="11239500" y="0"/>
                  </a:lnTo>
                  <a:lnTo>
                    <a:pt x="11239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BFAF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63500"/>
              <a:ext cx="11239500" cy="2667000"/>
            </a:xfrm>
            <a:custGeom>
              <a:avLst/>
              <a:gdLst/>
              <a:ahLst/>
              <a:cxnLst/>
              <a:rect l="l" t="t" r="r" b="b"/>
              <a:pathLst>
                <a:path w="11239500" h="2667000">
                  <a:moveTo>
                    <a:pt x="4826" y="0"/>
                  </a:moveTo>
                  <a:lnTo>
                    <a:pt x="11234674" y="0"/>
                  </a:lnTo>
                  <a:lnTo>
                    <a:pt x="11239500" y="0"/>
                  </a:lnTo>
                  <a:lnTo>
                    <a:pt x="11239500" y="4826"/>
                  </a:lnTo>
                  <a:lnTo>
                    <a:pt x="11239500" y="2662174"/>
                  </a:lnTo>
                  <a:lnTo>
                    <a:pt x="11239500" y="2667000"/>
                  </a:lnTo>
                  <a:lnTo>
                    <a:pt x="11234674" y="2667000"/>
                  </a:lnTo>
                  <a:lnTo>
                    <a:pt x="4826" y="2667000"/>
                  </a:lnTo>
                  <a:lnTo>
                    <a:pt x="0" y="2667000"/>
                  </a:lnTo>
                  <a:lnTo>
                    <a:pt x="0" y="2662174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2662174"/>
                  </a:lnTo>
                  <a:lnTo>
                    <a:pt x="4826" y="2662174"/>
                  </a:lnTo>
                  <a:lnTo>
                    <a:pt x="4826" y="2657348"/>
                  </a:lnTo>
                  <a:lnTo>
                    <a:pt x="11234674" y="2657348"/>
                  </a:lnTo>
                  <a:lnTo>
                    <a:pt x="11234674" y="2662174"/>
                  </a:lnTo>
                  <a:lnTo>
                    <a:pt x="11229848" y="2662174"/>
                  </a:lnTo>
                  <a:lnTo>
                    <a:pt x="11229848" y="4826"/>
                  </a:lnTo>
                  <a:lnTo>
                    <a:pt x="11234674" y="4826"/>
                  </a:lnTo>
                  <a:lnTo>
                    <a:pt x="11234674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500" y="63500"/>
              <a:ext cx="11239500" cy="457200"/>
            </a:xfrm>
            <a:custGeom>
              <a:avLst/>
              <a:gdLst/>
              <a:ahLst/>
              <a:cxnLst/>
              <a:rect l="l" t="t" r="r" b="b"/>
              <a:pathLst>
                <a:path w="11239500" h="457200">
                  <a:moveTo>
                    <a:pt x="0" y="0"/>
                  </a:moveTo>
                  <a:lnTo>
                    <a:pt x="11239500" y="0"/>
                  </a:lnTo>
                  <a:lnTo>
                    <a:pt x="112395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E8E2D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44500" y="9779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  <a:lnTo>
                    <a:pt x="104775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DCD5C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44500" y="14351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  <a:lnTo>
                    <a:pt x="104775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DCD5C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44500" y="18923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  <a:lnTo>
                    <a:pt x="104775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DCD5C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500" y="73025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9497" y="3555997"/>
            <a:ext cx="11366497" cy="1650997"/>
            <a:chOff x="0" y="0"/>
            <a:chExt cx="11366500" cy="1651000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11239500" cy="1524000"/>
            </a:xfrm>
            <a:custGeom>
              <a:avLst/>
              <a:gdLst/>
              <a:ahLst/>
              <a:cxnLst/>
              <a:rect l="l" t="t" r="r" b="b"/>
              <a:pathLst>
                <a:path w="11239500" h="1524000">
                  <a:moveTo>
                    <a:pt x="0" y="0"/>
                  </a:moveTo>
                  <a:lnTo>
                    <a:pt x="11239500" y="0"/>
                  </a:lnTo>
                  <a:lnTo>
                    <a:pt x="112395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B142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63500"/>
              <a:ext cx="57150" cy="1524000"/>
            </a:xfrm>
            <a:custGeom>
              <a:avLst/>
              <a:gdLst/>
              <a:ahLst/>
              <a:cxnLst/>
              <a:rect l="l" t="t" r="r" b="b"/>
              <a:pathLst>
                <a:path w="57150" h="1524000">
                  <a:moveTo>
                    <a:pt x="0" y="0"/>
                  </a:moveTo>
                  <a:lnTo>
                    <a:pt x="57150" y="0"/>
                  </a:lnTo>
                  <a:lnTo>
                    <a:pt x="5715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44500" y="2921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858" y="96139"/>
                    <a:pt x="5080" y="92075"/>
                  </a:cubicBezTo>
                  <a:cubicBezTo>
                    <a:pt x="3302" y="88011"/>
                    <a:pt x="2159" y="83820"/>
                    <a:pt x="1270" y="79629"/>
                  </a:cubicBezTo>
                  <a:cubicBezTo>
                    <a:pt x="381" y="75438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FF605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73100" y="2921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858" y="96139"/>
                    <a:pt x="5080" y="92075"/>
                  </a:cubicBezTo>
                  <a:cubicBezTo>
                    <a:pt x="3302" y="88011"/>
                    <a:pt x="2159" y="83820"/>
                    <a:pt x="1270" y="79629"/>
                  </a:cubicBezTo>
                  <a:cubicBezTo>
                    <a:pt x="381" y="75438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E1BE3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901700" y="2921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858" y="96139"/>
                    <a:pt x="5080" y="92075"/>
                  </a:cubicBezTo>
                  <a:cubicBezTo>
                    <a:pt x="3302" y="88011"/>
                    <a:pt x="2159" y="83820"/>
                    <a:pt x="1270" y="79629"/>
                  </a:cubicBezTo>
                  <a:cubicBezTo>
                    <a:pt x="381" y="75438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5BC85B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9505950"/>
            <a:ext cx="16002000" cy="9525"/>
            <a:chOff x="0" y="0"/>
            <a:chExt cx="16002000" cy="95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002000" cy="9525"/>
            </a:xfrm>
            <a:custGeom>
              <a:avLst/>
              <a:gdLst/>
              <a:ahLst/>
              <a:cxnLst/>
              <a:rect l="l" t="t" r="r" b="b"/>
              <a:pathLst>
                <a:path w="16002000" h="9525">
                  <a:moveTo>
                    <a:pt x="0" y="0"/>
                  </a:moveTo>
                  <a:lnTo>
                    <a:pt x="16002000" y="0"/>
                  </a:lnTo>
                  <a:lnTo>
                    <a:pt x="16002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763500" y="4010025"/>
            <a:ext cx="4191000" cy="9525"/>
            <a:chOff x="0" y="0"/>
            <a:chExt cx="4191000" cy="95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  <a:lnTo>
                    <a:pt x="4191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7BFA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699997" y="5651497"/>
            <a:ext cx="4508497" cy="3270247"/>
            <a:chOff x="0" y="0"/>
            <a:chExt cx="4508500" cy="3270250"/>
          </a:xfrm>
        </p:grpSpPr>
        <p:sp>
          <p:nvSpPr>
            <p:cNvPr id="25" name="Freeform 25"/>
            <p:cNvSpPr/>
            <p:nvPr/>
          </p:nvSpPr>
          <p:spPr>
            <a:xfrm>
              <a:off x="63500" y="63500"/>
              <a:ext cx="4381500" cy="3143250"/>
            </a:xfrm>
            <a:custGeom>
              <a:avLst/>
              <a:gdLst/>
              <a:ahLst/>
              <a:cxnLst/>
              <a:rect l="l" t="t" r="r" b="b"/>
              <a:pathLst>
                <a:path w="4381500" h="3143250">
                  <a:moveTo>
                    <a:pt x="0" y="0"/>
                  </a:moveTo>
                  <a:lnTo>
                    <a:pt x="4381500" y="0"/>
                  </a:lnTo>
                  <a:lnTo>
                    <a:pt x="4381500" y="3143250"/>
                  </a:lnTo>
                  <a:lnTo>
                    <a:pt x="0" y="3143250"/>
                  </a:lnTo>
                  <a:close/>
                </a:path>
              </a:pathLst>
            </a:custGeom>
            <a:solidFill>
              <a:srgbClr val="0E1A2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63500" y="63500"/>
              <a:ext cx="57150" cy="3143250"/>
            </a:xfrm>
            <a:custGeom>
              <a:avLst/>
              <a:gdLst/>
              <a:ahLst/>
              <a:cxnLst/>
              <a:rect l="l" t="t" r="r" b="b"/>
              <a:pathLst>
                <a:path w="57150" h="3143250">
                  <a:moveTo>
                    <a:pt x="0" y="0"/>
                  </a:moveTo>
                  <a:lnTo>
                    <a:pt x="57150" y="0"/>
                  </a:lnTo>
                  <a:lnTo>
                    <a:pt x="57150" y="3143250"/>
                  </a:lnTo>
                  <a:lnTo>
                    <a:pt x="0" y="31432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5943996" y="3648426"/>
            <a:ext cx="1039813" cy="22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spc="389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COMANDO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3000" y="719757"/>
            <a:ext cx="30480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· EXECUÇÃO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3000" y="1474241"/>
            <a:ext cx="5430155" cy="147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600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Demonstração </a:t>
            </a:r>
            <a:r>
              <a:rPr lang="en-US" sz="60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ao vivo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70793" y="4094737"/>
            <a:ext cx="8604723" cy="79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1899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javac -d out src/main/java/br/com/grupo3/seguros/</a:t>
            </a:r>
            <a:r>
              <a:rPr lang="en-US" sz="1899">
                <a:solidFill>
                  <a:srgbClr val="E07A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-US" sz="1899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.java java -cp out </a:t>
            </a:r>
            <a:r>
              <a:rPr lang="en-US" sz="1899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</a:t>
            </a:r>
            <a:r>
              <a:rPr lang="en-US" sz="1899">
                <a:solidFill>
                  <a:srgbClr val="E8E2D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.com.grupo3.seguros.Main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3000" y="5710333"/>
            <a:ext cx="2251138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Saída principal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6353518"/>
            <a:ext cx="9144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TIPO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571680" y="6353518"/>
            <a:ext cx="100032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67039" y="6353518"/>
            <a:ext cx="1172161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SEGURO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6726443"/>
            <a:ext cx="689249" cy="178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1773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Carro </a:t>
            </a:r>
            <a:r>
              <a:rPr lang="en-US" sz="1773">
                <a:solidFill>
                  <a:srgbClr val="B743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Moto </a:t>
            </a:r>
            <a:r>
              <a:rPr lang="en-US" sz="1773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Carro </a:t>
            </a:r>
            <a:r>
              <a:rPr lang="en-US" sz="1773">
                <a:solidFill>
                  <a:srgbClr val="B743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Moto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67039" y="6697161"/>
            <a:ext cx="1516358" cy="1784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1773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R$ 7.500,00 </a:t>
            </a:r>
            <a:r>
              <a:rPr lang="en-US" sz="1773">
                <a:solidFill>
                  <a:srgbClr val="B743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R$ 3.360,00 </a:t>
            </a:r>
            <a:r>
              <a:rPr lang="en-US" sz="1773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R$ 7.250,00 </a:t>
            </a:r>
            <a:r>
              <a:rPr lang="en-US" sz="1773">
                <a:solidFill>
                  <a:srgbClr val="B743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R$ 2.560,00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71680" y="6819900"/>
            <a:ext cx="1330705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773" dirty="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Honda Civic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71680" y="7260185"/>
            <a:ext cx="1597590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773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Honda CB 500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62350" y="7736437"/>
            <a:ext cx="1580737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773" dirty="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Toyota Corolla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562350" y="8174931"/>
            <a:ext cx="1679241" cy="26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773" dirty="0">
                <a:solidFill>
                  <a:srgbClr val="0E1A2E"/>
                </a:solidFill>
                <a:latin typeface="Inter"/>
                <a:ea typeface="Inter"/>
                <a:cs typeface="Inter"/>
                <a:sym typeface="Inter"/>
              </a:rPr>
              <a:t>Yamaha MT-03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3000" y="9161031"/>
            <a:ext cx="6842290" cy="2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1F2D44"/>
                </a:solidFill>
                <a:latin typeface="Inter"/>
                <a:ea typeface="Inter"/>
                <a:cs typeface="Inter"/>
                <a:sym typeface="Inter"/>
              </a:rPr>
              <a:t>Depois, execute TesteVeiculos e confirme a mensagem de sucesso.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987058" y="6629276"/>
            <a:ext cx="1429636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000" spc="450" dirty="0">
                <a:solidFill>
                  <a:srgbClr val="9DD0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991214" y="7130872"/>
            <a:ext cx="3963286" cy="7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dirty="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R$ 20.670,00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3000" y="9753600"/>
            <a:ext cx="91447" cy="20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44168" y="9753600"/>
            <a:ext cx="3380232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6B6F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DEMONSTRAÇÃO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6858000"/>
            <a:ext cx="2857500" cy="9525"/>
            <a:chOff x="0" y="0"/>
            <a:chExt cx="2857500" cy="9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3000" y="1066800"/>
            <a:ext cx="571500" cy="19050"/>
            <a:chOff x="0" y="0"/>
            <a:chExt cx="5715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0"/>
                  </a:moveTo>
                  <a:lnTo>
                    <a:pt x="571500" y="0"/>
                  </a:lnTo>
                  <a:lnTo>
                    <a:pt x="571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476750" y="6858000"/>
            <a:ext cx="2857500" cy="9525"/>
            <a:chOff x="0" y="0"/>
            <a:chExt cx="2857500" cy="95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10500" y="6858000"/>
            <a:ext cx="2857500" cy="9525"/>
            <a:chOff x="0" y="0"/>
            <a:chExt cx="2857500" cy="95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E07A2A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8572500"/>
            <a:ext cx="12763500" cy="9525"/>
            <a:chOff x="0" y="0"/>
            <a:chExt cx="12763500" cy="95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63500" cy="9525"/>
            </a:xfrm>
            <a:custGeom>
              <a:avLst/>
              <a:gdLst/>
              <a:ahLst/>
              <a:cxnLst/>
              <a:rect l="l" t="t" r="r" b="b"/>
              <a:pathLst>
                <a:path w="12763500" h="9525">
                  <a:moveTo>
                    <a:pt x="0" y="0"/>
                  </a:moveTo>
                  <a:lnTo>
                    <a:pt x="12763500" y="0"/>
                  </a:lnTo>
                  <a:lnTo>
                    <a:pt x="127635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F2D4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144250" y="6858000"/>
            <a:ext cx="2857500" cy="9525"/>
            <a:chOff x="0" y="0"/>
            <a:chExt cx="2857500" cy="95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9DD0B6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223997" y="-63503"/>
            <a:ext cx="4127497" cy="10413997"/>
            <a:chOff x="0" y="0"/>
            <a:chExt cx="4127500" cy="10414000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4000500" cy="10287000"/>
            </a:xfrm>
            <a:custGeom>
              <a:avLst/>
              <a:gdLst/>
              <a:ahLst/>
              <a:cxnLst/>
              <a:rect l="l" t="t" r="r" b="b"/>
              <a:pathLst>
                <a:path w="4000500" h="10287000">
                  <a:moveTo>
                    <a:pt x="0" y="0"/>
                  </a:moveTo>
                  <a:lnTo>
                    <a:pt x="4000500" y="0"/>
                  </a:lnTo>
                  <a:lnTo>
                    <a:pt x="40005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E8E2D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0" y="1701800"/>
              <a:ext cx="457200" cy="19050"/>
            </a:xfrm>
            <a:custGeom>
              <a:avLst/>
              <a:gdLst/>
              <a:ahLst/>
              <a:cxnLst/>
              <a:rect l="l" t="t" r="r" b="b"/>
              <a:pathLst>
                <a:path w="457200" h="19050">
                  <a:moveTo>
                    <a:pt x="0" y="0"/>
                  </a:moveTo>
                  <a:lnTo>
                    <a:pt x="457200" y="0"/>
                  </a:lnTo>
                  <a:lnTo>
                    <a:pt x="457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410C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859000" y="1290590"/>
            <a:ext cx="1782465" cy="22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spc="38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ENCERRAMENTO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719090"/>
            <a:ext cx="2362200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dirty="0">
                <a:solidFill>
                  <a:srgbClr val="C241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· SÍNTESE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1458154"/>
            <a:ext cx="9498244" cy="194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8"/>
              </a:lnSpc>
            </a:pPr>
            <a:r>
              <a:rPr lang="en-US" sz="5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Resposta central</a:t>
            </a:r>
          </a:p>
          <a:p>
            <a:pPr algn="l">
              <a:lnSpc>
                <a:spcPts val="5848"/>
              </a:lnSpc>
            </a:pPr>
            <a:r>
              <a:rPr lang="en-US" sz="57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do seminário </a:t>
            </a:r>
          </a:p>
          <a:p>
            <a:pPr algn="l">
              <a:lnSpc>
                <a:spcPts val="3693"/>
              </a:lnSpc>
            </a:pPr>
            <a:endParaRPr lang="en-US" sz="5700">
              <a:solidFill>
                <a:srgbClr val="C241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554353" y="3283296"/>
            <a:ext cx="96298" cy="54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3902421"/>
            <a:ext cx="8399012" cy="160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60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Java organiza a solução ao separar</a:t>
            </a:r>
          </a:p>
          <a:p>
            <a:pPr algn="l">
              <a:lnSpc>
                <a:spcPts val="4201"/>
              </a:lnSpc>
            </a:pPr>
            <a:r>
              <a:rPr lang="en-US" sz="3600">
                <a:solidFill>
                  <a:srgbClr val="C2410C"/>
                </a:solidFill>
                <a:latin typeface="Fraunces"/>
                <a:ea typeface="Fraunces"/>
                <a:cs typeface="Fraunces"/>
                <a:sym typeface="Fraunces"/>
              </a:rPr>
              <a:t>dados</a:t>
            </a:r>
            <a:r>
              <a:rPr lang="en-US" sz="360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, </a:t>
            </a:r>
            <a:r>
              <a:rPr lang="en-US" sz="3600">
                <a:solidFill>
                  <a:srgbClr val="3B82F6"/>
                </a:solidFill>
                <a:latin typeface="Fraunces"/>
                <a:ea typeface="Fraunces"/>
                <a:cs typeface="Fraunces"/>
                <a:sym typeface="Fraunces"/>
              </a:rPr>
              <a:t>regras</a:t>
            </a:r>
            <a:r>
              <a:rPr lang="en-US" sz="360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 e </a:t>
            </a:r>
            <a:r>
              <a:rPr lang="en-US" sz="3600">
                <a:solidFill>
                  <a:srgbClr val="9DD0B6"/>
                </a:solidFill>
                <a:latin typeface="Fraunces"/>
                <a:ea typeface="Fraunces"/>
                <a:cs typeface="Fraunces"/>
                <a:sym typeface="Fraunces"/>
              </a:rPr>
              <a:t>apresentação</a:t>
            </a:r>
            <a:r>
              <a:rPr lang="en-US" sz="360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 em classes com responsabilidades claras.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3000" y="6992931"/>
            <a:ext cx="1474556" cy="4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Abstração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03797" y="7443254"/>
            <a:ext cx="59366" cy="2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76750" y="6992931"/>
            <a:ext cx="1218572" cy="4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Herança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80346" y="7443254"/>
            <a:ext cx="59366" cy="2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10500" y="6992931"/>
            <a:ext cx="1652984" cy="4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E07A2A"/>
                </a:solidFill>
                <a:latin typeface="Inter"/>
                <a:ea typeface="Inter"/>
                <a:cs typeface="Inter"/>
                <a:sym typeface="Inter"/>
              </a:rPr>
              <a:t>Sobrescrita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80235" y="7443254"/>
            <a:ext cx="59366" cy="2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44250" y="6992931"/>
            <a:ext cx="1888960" cy="42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9DD0B6"/>
                </a:solidFill>
                <a:latin typeface="Inter"/>
                <a:ea typeface="Inter"/>
                <a:cs typeface="Inter"/>
                <a:sym typeface="Inter"/>
              </a:rPr>
              <a:t>Polimorfismo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75685" y="7443254"/>
            <a:ext cx="59366" cy="2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000" y="7443254"/>
            <a:ext cx="2215224" cy="57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Veiculo define a base </a:t>
            </a:r>
          </a:p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comum.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76750" y="7433729"/>
            <a:ext cx="2104863" cy="59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Carro e Moto reusam a estrutura.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68701" y="7432175"/>
            <a:ext cx="2388460" cy="59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Cada tipo implementa seu cálculo.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44250" y="7443254"/>
            <a:ext cx="2873375" cy="2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mesma</a:t>
            </a:r>
            <a:r>
              <a:rPr lang="en-US" sz="1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referência</a:t>
            </a:r>
            <a:r>
              <a:rPr lang="en-US" sz="1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99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executa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44250" y="7719479"/>
            <a:ext cx="2343150" cy="280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dirty="0" err="1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regras</a:t>
            </a:r>
            <a:r>
              <a:rPr lang="en-US" sz="1699" dirty="0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99" dirty="0" err="1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diferentes</a:t>
            </a:r>
            <a:r>
              <a:rPr lang="en-US" sz="1699" dirty="0">
                <a:solidFill>
                  <a:srgbClr val="C7C0B2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859000" y="1988534"/>
            <a:ext cx="2572836" cy="673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0E1A2E"/>
                </a:solidFill>
                <a:latin typeface="Fraunces"/>
                <a:ea typeface="Fraunces"/>
                <a:cs typeface="Fraunces"/>
                <a:sym typeface="Fraunces"/>
              </a:rPr>
              <a:t>Quatro ideias, um exemplo mínimo.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74546" y="8755294"/>
            <a:ext cx="868527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i="1">
                <a:solidFill>
                  <a:srgbClr val="C7C0B2"/>
                </a:solidFill>
                <a:latin typeface="Inter Italics"/>
                <a:ea typeface="Inter Italics"/>
                <a:cs typeface="Inter Italics"/>
                <a:sym typeface="Inter Italics"/>
              </a:rPr>
              <a:t>O exemplo é pequeno, executável e suficiente para demonstrar os conceitos.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9693688"/>
            <a:ext cx="91447" cy="20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9A9D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9868" y="9693688"/>
            <a:ext cx="1741932" cy="20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36" dirty="0">
                <a:solidFill>
                  <a:srgbClr val="9A9D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CONCLUSÃO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859000" y="9684163"/>
            <a:ext cx="131148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spc="531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GRUPO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898494" y="9684163"/>
            <a:ext cx="17903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17987" y="9684163"/>
            <a:ext cx="17903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432730" y="9684163"/>
            <a:ext cx="185527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spc="531">
                <a:solidFill>
                  <a:srgbClr val="0E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743</Words>
  <Application>Microsoft Office PowerPoint</Application>
  <PresentationFormat>Personalizar</PresentationFormat>
  <Paragraphs>222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Fraunces</vt:lpstr>
      <vt:lpstr>Calibri</vt:lpstr>
      <vt:lpstr>Inter Bold</vt:lpstr>
      <vt:lpstr>Inter</vt:lpstr>
      <vt:lpstr>JetBrains Mono Italics</vt:lpstr>
      <vt:lpstr>JetBrains Mono</vt:lpstr>
      <vt:lpstr>Inter Italics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Programação_em_Java_20260922011415.pdf</dc:title>
  <cp:lastModifiedBy>Breno Silva Marinho</cp:lastModifiedBy>
  <cp:revision>2</cp:revision>
  <dcterms:created xsi:type="dcterms:W3CDTF">2006-08-16T00:00:00Z</dcterms:created>
  <dcterms:modified xsi:type="dcterms:W3CDTF">2026-09-22T02:27:04Z</dcterms:modified>
  <dc:identifier>DAHV4SaMToY</dc:identifier>
</cp:coreProperties>
</file>